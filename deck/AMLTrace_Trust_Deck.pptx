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AMLTrace. The one-line pitch: most AML demos prove they can find a pattern. We spent our time proving we can tell a laundering ring apart from a business that merely looks like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Show, do not tell: this is a running Flask app with zero front-end dependencies - no CDN, no build step. It works with the venue wifi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this if anyone challenges the data. No public AML dataset is real, for the same legal reason. What we can do - and did - is pin every parameter to a published RBI, NPCI or FIU-IND figure, and show the citation in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to slow down on. We deliberately made our own numbers worse in order to measure the thing that actually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encode economics, not geometry - which is why they generalise beyond the specific decoys we planted.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Volunteering a worse number is the most credible thing in the deck. Any AML result quoted without this curve is quoting the easiest number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 this before anyone finds it. The headline 1.00 is seed-specific; the honest claim is mean precision 0.97 and recall 1.00 across ten independent ledgers. The five-seed sweep in the Detection Lab shows the same thing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strongest question a judge can ask, so ask it first. Rule-based AML is threshold-bound by construction. Name the ceiling here, then show on the next slide what we did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second ledger is a peeling chain, a typology with no layer of its own in this engine. It is here to answer whether layer 9 generalises or has just been fitted to the first attack. Nothing in it was used to tune a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one-liner. Then offer the live demo: stage planes, then the hard-negative table, then move a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cover_network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498079" cy="6858000"/>
          </a:xfrm>
          <a:prstGeom prst="rect">
            <a:avLst/>
          </a:prstGeom>
          <a:solidFill>
            <a:srgbClr val="04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888736"/>
            <a:ext cx="128016" cy="128016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6384" y="5888736"/>
            <a:ext cx="128016" cy="128016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5888736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1732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8E0D8"/>
                </a:solidFill>
                <a:latin typeface="Arial"/>
              </a:rPr>
              <a:t>BUILTNBANK  ·  IGTDW, IIT DELHI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65960"/>
            <a:ext cx="6766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600" b="1" i="0">
                <a:solidFill>
                  <a:srgbClr val="E8EEFB"/>
                </a:solidFill>
                <a:latin typeface="Arial"/>
              </a:rPr>
              <a:t>AMLTrace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600" b="1" i="0">
                <a:solidFill>
                  <a:srgbClr val="93A6C8"/>
                </a:solidFill>
                <a:latin typeface="Arial"/>
              </a:rPr>
              <a:t>Tracing financial crime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600" b="1" i="0">
                <a:solidFill>
                  <a:srgbClr val="93A6C8"/>
                </a:solidFill>
                <a:latin typeface="Arial"/>
              </a:rPr>
              <a:t>across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60520"/>
            <a:ext cx="6583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93A6C8"/>
                </a:solidFill>
                <a:latin typeface="Calibri"/>
              </a:rPr>
              <a:t>An anti-money-laundering investigation console. Eight detection layers over a directed money-flow graph - and four economic tests that decide whether a suspicious shape is actually a crime.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5833872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A7FA6"/>
                </a:solidFill>
                <a:latin typeface="Calibri"/>
              </a:rPr>
              <a:t>187 accounts   ·   301 transactions   ·   35 alerts   ·   9 rings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6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AMLTrace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A working investigation console, not a notebook of metrics</a:t>
            </a:r>
          </a:p>
        </p:txBody>
      </p:sp>
      <p:pic>
        <p:nvPicPr>
          <p:cNvPr id="6" name="Picture 5" descr="network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02610"/>
            <a:ext cx="5669280" cy="3858619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66928" y="1924812"/>
            <a:ext cx="182880" cy="182880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488289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Alert queue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Every account triaged by risk, each with grounds of suspicion in plain English.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647188"/>
            <a:ext cx="182880" cy="182880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96896"/>
            <a:ext cx="488289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Interactive network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3D money-flow graph; laundering stages as depth planes.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369564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19272"/>
            <a:ext cx="488289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Laundering timeline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Placement → layering → integration, reconstructed per ring.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091939"/>
            <a:ext cx="182880" cy="182880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41648"/>
            <a:ext cx="488289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Streaming replay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Detection re-run day by day, as the money actually moves.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4814316"/>
            <a:ext cx="182880" cy="182880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764024"/>
            <a:ext cx="488289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FIU-IND STR generator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Filing-ready reports under PMLA 2002, Section 12.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5536692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486400"/>
            <a:ext cx="488289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Detection lab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Every threshold live-tunable; the pipeline re-runs in seconds.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Where this data comes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The first question anyone should ask an AML system, answered in full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3520440" cy="260604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7" y="2029968"/>
            <a:ext cx="274320" cy="274320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87168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9F43"/>
                </a:solidFill>
                <a:latin typeface="Arial"/>
              </a:rPr>
              <a:t>WHY IT IS SYNTHETIC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34640"/>
            <a:ext cx="2971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3A6C8"/>
                </a:solidFill>
                <a:latin typeface="Calibri"/>
              </a:rPr>
              <a:t>Account-level Indian transaction data is not publicly available and cannot be. Customer records are protected by RBI regulation, by PMLA confidentiality and by the DPDP Act 2023 - no bank or regulator publishes a customer ledger. Every public AML dataset, including IBM's and PaySim, is synthetic for the same reason.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783080"/>
            <a:ext cx="3520440" cy="260604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2856" y="2029968"/>
            <a:ext cx="274320" cy="274320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487168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8E0D8"/>
                </a:solidFill>
                <a:latin typeface="Arial"/>
              </a:rPr>
              <a:t>WHAT IN IT IS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834640"/>
            <a:ext cx="2971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3A6C8"/>
                </a:solidFill>
                <a:latin typeface="Calibri"/>
              </a:rPr>
              <a:t>The rails, the thresholds and the money. Channel mix, average ticket size per rail, the CTR reporting threshold, the RTGS floor, per-transaction caps and the institution codes are all taken from RBI, NPCI and FIU-IND publications and are cited line by line below.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783080"/>
            <a:ext cx="3520440" cy="260604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84464" y="2029968"/>
            <a:ext cx="274320" cy="274320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2487168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4D6D"/>
                </a:solidFill>
                <a:latin typeface="Arial"/>
              </a:rPr>
              <a:t>WHAT IS INVENTED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834640"/>
            <a:ext cx="2971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3A6C8"/>
                </a:solidFill>
                <a:latin typeface="Calibri"/>
              </a:rPr>
              <a:t>The accounts, the counterparties and the laundering rings are invented. No real person, account or institution's activity appears anywhere in this system.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26280"/>
            <a:ext cx="11055096" cy="1481328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700016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Calibrated to published RBI, NPCI and FIU-IND figures - cited line by line in the app</a:t>
            </a:r>
          </a:p>
        </p:txBody>
      </p:sp>
      <p:sp>
        <p:nvSpPr>
          <p:cNvPr id="20" name="Oval 19"/>
          <p:cNvSpPr/>
          <p:nvPr/>
        </p:nvSpPr>
        <p:spPr>
          <a:xfrm>
            <a:off x="877824" y="5166359"/>
            <a:ext cx="146304" cy="146304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5120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EEFB"/>
                </a:solidFill>
                <a:latin typeface="Arial"/>
              </a:rPr>
              <a:t>Channel mix  </a:t>
            </a:r>
            <a:r>
              <a:rPr sz="1050" b="0" i="0">
                <a:solidFill>
                  <a:srgbClr val="93A6C8"/>
                </a:solidFill>
                <a:latin typeface="Calibri"/>
              </a:rPr>
              <a:t>UPI 85% of volume, 9% of value</a:t>
            </a:r>
          </a:p>
        </p:txBody>
      </p:sp>
      <p:sp>
        <p:nvSpPr>
          <p:cNvPr id="22" name="Oval 21"/>
          <p:cNvSpPr/>
          <p:nvPr/>
        </p:nvSpPr>
        <p:spPr>
          <a:xfrm>
            <a:off x="4462272" y="5166359"/>
            <a:ext cx="146304" cy="146304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5120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EEFB"/>
                </a:solidFill>
                <a:latin typeface="Arial"/>
              </a:rPr>
              <a:t>Average ticket  </a:t>
            </a:r>
            <a:r>
              <a:rPr sz="1050" b="0" i="0">
                <a:solidFill>
                  <a:srgbClr val="93A6C8"/>
                </a:solidFill>
                <a:latin typeface="Calibri"/>
              </a:rPr>
              <a:t>UPI Rs 1,347 · NEFT Rs 48,200</a:t>
            </a:r>
          </a:p>
        </p:txBody>
      </p:sp>
      <p:sp>
        <p:nvSpPr>
          <p:cNvPr id="24" name="Oval 23"/>
          <p:cNvSpPr/>
          <p:nvPr/>
        </p:nvSpPr>
        <p:spPr>
          <a:xfrm>
            <a:off x="8046720" y="5166359"/>
            <a:ext cx="146304" cy="146304"/>
          </a:xfrm>
          <a:prstGeom prst="ellipse">
            <a:avLst/>
          </a:prstGeom>
          <a:solidFill>
            <a:srgbClr val="2EC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5120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EEFB"/>
                </a:solidFill>
                <a:latin typeface="Arial"/>
              </a:rPr>
              <a:t>CTR threshold  </a:t>
            </a:r>
            <a:r>
              <a:rPr sz="1050" b="0" i="0">
                <a:solidFill>
                  <a:srgbClr val="93A6C8"/>
                </a:solidFill>
                <a:latin typeface="Calibri"/>
              </a:rPr>
              <a:t>Rs 10,00,000 (PMLR 2005)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" y="5568696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3856" y="552297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EEFB"/>
                </a:solidFill>
                <a:latin typeface="Arial"/>
              </a:rPr>
              <a:t>RTGS floor  </a:t>
            </a:r>
            <a:r>
              <a:rPr sz="1050" b="0" i="0">
                <a:solidFill>
                  <a:srgbClr val="93A6C8"/>
                </a:solidFill>
                <a:latin typeface="Calibri"/>
              </a:rPr>
              <a:t>Rs 2,00,000 per transfer</a:t>
            </a:r>
          </a:p>
        </p:txBody>
      </p:sp>
      <p:sp>
        <p:nvSpPr>
          <p:cNvPr id="28" name="Oval 27"/>
          <p:cNvSpPr/>
          <p:nvPr/>
        </p:nvSpPr>
        <p:spPr>
          <a:xfrm>
            <a:off x="4462272" y="5568696"/>
            <a:ext cx="146304" cy="146304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8304" y="552297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EEFB"/>
                </a:solidFill>
                <a:latin typeface="Arial"/>
              </a:rPr>
              <a:t>Caps honoured  </a:t>
            </a:r>
            <a:r>
              <a:rPr sz="1050" b="0" i="0">
                <a:solidFill>
                  <a:srgbClr val="93A6C8"/>
                </a:solidFill>
                <a:latin typeface="Calibri"/>
              </a:rPr>
              <a:t>UPI Rs 1L · IMPS Rs 5L</a:t>
            </a:r>
          </a:p>
        </p:txBody>
      </p:sp>
      <p:sp>
        <p:nvSpPr>
          <p:cNvPr id="30" name="Oval 29"/>
          <p:cNvSpPr/>
          <p:nvPr/>
        </p:nvSpPr>
        <p:spPr>
          <a:xfrm>
            <a:off x="8046720" y="5568696"/>
            <a:ext cx="146304" cy="146304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552297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EEFB"/>
                </a:solidFill>
                <a:latin typeface="Arial"/>
              </a:rPr>
              <a:t>Institutions  </a:t>
            </a:r>
            <a:r>
              <a:rPr sz="1050" b="0" i="0">
                <a:solidFill>
                  <a:srgbClr val="93A6C8"/>
                </a:solidFill>
                <a:latin typeface="Calibri"/>
              </a:rPr>
              <a:t>12 real IFSC prefixes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144768"/>
            <a:ext cx="110550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6A7FA6"/>
                </a:solidFill>
                <a:latin typeface="Calibri"/>
              </a:rPr>
              <a:t>Account-level Indian transaction data is not public and cannot be - it is protected by RBI regulation, PMLA confidentiality and the DPDP Act 2023.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But every detector scores well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So we built a ledger designed to break it</a:t>
            </a:r>
          </a:p>
        </p:txBody>
      </p:sp>
      <p:pic>
        <p:nvPicPr>
          <p:cNvPr id="6" name="Picture 5" descr="chart_hardn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360"/>
            <a:ext cx="6858000" cy="37576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90688" y="1783080"/>
            <a:ext cx="3840480" cy="420624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5875">
            <a:solidFill>
              <a:srgbClr val="FF4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01583" y="2029968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E8EEFB"/>
                </a:solidFill>
                <a:latin typeface="Arial"/>
              </a:rPr>
              <a:t>19 lawful businesses, engineered to have identical topology to each typology.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3" y="3035808"/>
            <a:ext cx="32461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300" b="0" i="0">
                <a:solidFill>
                  <a:srgbClr val="93A6C8"/>
                </a:solidFill>
                <a:latin typeface="Calibri"/>
              </a:rPr>
              <a:t>None of them is labelled fraud. Each family reproduces the shape of one crime.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400" b="1" i="0">
                <a:solidFill>
                  <a:srgbClr val="FF4D6D"/>
                </a:solidFill>
                <a:latin typeface="Calibri"/>
              </a:rPr>
              <a:t>A detector that matches shape alone flags 18 of the 19.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300" b="0" i="0">
                <a:solidFill>
                  <a:srgbClr val="93A6C8"/>
                </a:solidFill>
                <a:latin typeface="Calibri"/>
              </a:rPr>
              <a:t>That is the number no AML demo shows - and it is the difference between a pattern matcher and a product.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Four economic tests, not geometric 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Turning each off, in isolation</a:t>
            </a:r>
          </a:p>
        </p:txBody>
      </p:sp>
      <p:pic>
        <p:nvPicPr>
          <p:cNvPr id="6" name="Picture 5" descr="chart_discrimin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360"/>
            <a:ext cx="6949440" cy="28098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82127" y="1783080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6A7FA6"/>
                </a:solidFill>
                <a:latin typeface="Arial"/>
              </a:rPr>
              <a:t>WHAT SEPARATES THEM</a:t>
            </a:r>
          </a:p>
        </p:txBody>
      </p:sp>
      <p:sp>
        <p:nvSpPr>
          <p:cNvPr id="8" name="Oval 7"/>
          <p:cNvSpPr/>
          <p:nvPr/>
        </p:nvSpPr>
        <p:spPr>
          <a:xfrm>
            <a:off x="7882127" y="2258568"/>
            <a:ext cx="201168" cy="201168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212848"/>
            <a:ext cx="34015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E8EEFB"/>
                </a:solidFill>
                <a:latin typeface="Arial"/>
              </a:rPr>
              <a:t>Threshold avoidance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A structurer never crosses the CTR line. A big biller sometimes does.</a:t>
            </a:r>
          </a:p>
        </p:txBody>
      </p:sp>
      <p:sp>
        <p:nvSpPr>
          <p:cNvPr id="10" name="Oval 9"/>
          <p:cNvSpPr/>
          <p:nvPr/>
        </p:nvSpPr>
        <p:spPr>
          <a:xfrm>
            <a:off x="7882127" y="3227832"/>
            <a:ext cx="201168" cy="201168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3182112"/>
            <a:ext cx="34015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E8EEFB"/>
                </a:solidFill>
                <a:latin typeface="Arial"/>
              </a:rPr>
              <a:t>Branch dedication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A mule has no other trade. A contractor has other customers.</a:t>
            </a:r>
          </a:p>
        </p:txBody>
      </p:sp>
      <p:sp>
        <p:nvSpPr>
          <p:cNvPr id="12" name="Oval 11"/>
          <p:cNvSpPr/>
          <p:nvPr/>
        </p:nvSpPr>
        <p:spPr>
          <a:xfrm>
            <a:off x="7882127" y="4197096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51376"/>
            <a:ext cx="34015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E8EEFB"/>
                </a:solidFill>
                <a:latin typeface="Arial"/>
              </a:rPr>
              <a:t>Standing relationship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Round-tripping through a monthly counterparty is trade.</a:t>
            </a:r>
          </a:p>
        </p:txBody>
      </p:sp>
      <p:sp>
        <p:nvSpPr>
          <p:cNvPr id="14" name="Oval 13"/>
          <p:cNvSpPr/>
          <p:nvPr/>
        </p:nvSpPr>
        <p:spPr>
          <a:xfrm>
            <a:off x="7882127" y="5166359"/>
            <a:ext cx="201168" cy="201168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5120640"/>
            <a:ext cx="34015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E8EEFB"/>
                </a:solidFill>
                <a:latin typeface="Arial"/>
              </a:rPr>
              <a:t>Settlement-rail recurrence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A rail repeats on a schedule. A mule is used once and burned.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605332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ECC8F"/>
                </a:solidFill>
                <a:latin typeface="Arial"/>
              </a:rPr>
              <a:t>All four on: 0/19 wrongly flagged.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The number we could have hidden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Same detector, run as a stream instead of a batch</a:t>
            </a:r>
          </a:p>
        </p:txBody>
      </p:sp>
      <p:pic>
        <p:nvPicPr>
          <p:cNvPr id="6" name="Picture 5" descr="chart_strea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7589520" cy="384687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22207" y="1783080"/>
            <a:ext cx="3108960" cy="114300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23376" y="1920240"/>
            <a:ext cx="2706624" cy="504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ECC8F"/>
                </a:solidFill>
                <a:latin typeface="Arial"/>
              </a:rPr>
              <a:t>1.00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23376" y="2470456"/>
            <a:ext cx="2706624" cy="327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Batch precision, month 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22207" y="3054096"/>
            <a:ext cx="3108960" cy="132588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3376" y="3191256"/>
            <a:ext cx="2706624" cy="504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4D6D"/>
                </a:solidFill>
                <a:latin typeface="Arial"/>
              </a:rPr>
              <a:t>0.00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23376" y="3741472"/>
            <a:ext cx="27066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Streaming precision on day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3376" y="4162096"/>
            <a:ext cx="2706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reaches the batch figure on day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7" y="457200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The discriminators are evidence-hungry. A settlement rail is indistinguishable from a mule until you have watched it settle three times - so lawful accounts are provisionally flagged, then correctly released.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Is 1.00 the real number?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Ten ledgers the thresholds were never tuned on</a:t>
            </a:r>
          </a:p>
        </p:txBody>
      </p:sp>
      <p:pic>
        <p:nvPicPr>
          <p:cNvPr id="6" name="Picture 5" descr="chart_se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7589520" cy="361405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22207" y="1783080"/>
            <a:ext cx="3108960" cy="132588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23376" y="1920240"/>
            <a:ext cx="2706624" cy="504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9F43"/>
                </a:solidFill>
                <a:latin typeface="Arial"/>
              </a:rPr>
              <a:t>1.000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23376" y="2470456"/>
            <a:ext cx="27066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Mean precision across 10 random ledgers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23376" y="2891080"/>
            <a:ext cx="2706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lowest seed: 1.000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22207" y="3246120"/>
            <a:ext cx="3108960" cy="132588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23376" y="3383279"/>
            <a:ext cx="2706624" cy="504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ECC8F"/>
                </a:solidFill>
                <a:latin typeface="Arial"/>
              </a:rPr>
              <a:t>1.00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3376" y="3933496"/>
            <a:ext cx="27066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Recall - on every seed, without exception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3376" y="4354120"/>
            <a:ext cx="2706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no laundering account was ever missed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7" y="4736592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10 of 10 ledgers score a clean 1.00. </a:t>
            </a:r>
            <a:r>
              <a:rPr sz="1200" b="1" i="0">
                <a:solidFill>
                  <a:srgbClr val="2ECC8F"/>
                </a:solidFill>
                <a:latin typeface="Calibri"/>
              </a:rPr>
              <a:t>None fall short.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The app ships a five-seed sweep so a judge can rerun this live, on ledgers the detector has never seen.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What happens when criminals stop being textbook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Same thresholds, patterns bent toward the legitimate side</a:t>
            </a:r>
          </a:p>
        </p:txBody>
      </p:sp>
      <p:pic>
        <p:nvPicPr>
          <p:cNvPr id="6" name="Picture 5" descr="chart_advers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7223760" cy="346686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19288" y="1783080"/>
            <a:ext cx="3611880" cy="416052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5875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3608" y="2048256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E8EEFB"/>
                </a:solidFill>
                <a:latin typeface="Arial"/>
              </a:rPr>
              <a:t>Every threshold is an evasion instruction if you know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3608" y="2944368"/>
            <a:ext cx="3063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Hold funds one day longer, spread deposits over two weeks, close the loop more slowly - and recall falls from 1.00 to as low as 0.89.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 i="0">
                <a:solidFill>
                  <a:srgbClr val="E8EEFB"/>
                </a:solidFill>
                <a:latin typeface="Calibri"/>
              </a:rPr>
              <a:t>Precision never moves.</a:t>
            </a:r>
            <a:r>
              <a:rPr sz="1250" b="0" i="0">
                <a:solidFill>
                  <a:srgbClr val="93A6C8"/>
                </a:solidFill>
                <a:latin typeface="Calibri"/>
              </a:rPr>
              <a:t> The system does not start accusing the innocent; it goes quiet. For a compliance control that is the right failure mode, and the wrong one to leave unmeasured.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 i="0">
                <a:solidFill>
                  <a:srgbClr val="38E0D8"/>
                </a:solidFill>
                <a:latin typeface="Calibri"/>
              </a:rPr>
              <a:t>So we built the answer rather than listing it as future work. The next slide is layer 9, which scores the evasion itself.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Detecting the evasion, not the typology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Two ledgers built to defeat our own published thresholds</a:t>
            </a:r>
          </a:p>
        </p:txBody>
      </p:sp>
      <p:pic>
        <p:nvPicPr>
          <p:cNvPr id="6" name="Picture 5" descr="chart_eva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7223760" cy="39442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19288" y="1783080"/>
            <a:ext cx="3611880" cy="416052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3608" y="2048256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E8EEFB"/>
                </a:solidFill>
                <a:latin typeface="Arial"/>
              </a:rPr>
              <a:t>A rule you can read is a rule you can stand next 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3608" y="2944368"/>
            <a:ext cx="306324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Layer 9 scores three things a launderer cannot drop and still launder: hops arriving on a schedule, one sum keeping its size across a relay, and how much of an account is left once reciprocal cover traffic nets out.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Nothing in it is a threshold to sit outside of, and it reads the reporting line off the ledger instead of compiling ours in.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 i="0">
                <a:solidFill>
                  <a:srgbClr val="38E0D8"/>
                </a:solidFill>
                <a:latin typeface="Calibri"/>
              </a:rPr>
              <a:t>14 of 14 accounts recovered, 0 false positives.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What we would say if you pushed 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5440680" cy="411480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2A1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2011680"/>
            <a:ext cx="274320" cy="274320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43584" y="2011680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8EEFB"/>
                </a:solidFill>
                <a:latin typeface="Arial"/>
              </a:rPr>
              <a:t>Honest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542032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Precision holds at 1.00 on all 10 random ledgers, so the number is a property of the method rather than of one lucky draw. The caveat that matters more: we wrote the generator and the detector, and they share a view of what laundering looks like.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602735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Rule thresholds are evadable by construction. A patient launderer costs us recall, not precision - the system goes quiet rather than wrong.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66344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The hard negatives are still ones we designed, and the ledger is synthetic. Adapters for four public datasets are built and tested; the data is separately licensed.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37360"/>
            <a:ext cx="5440680" cy="411480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42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2011680"/>
            <a:ext cx="274320" cy="274320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011680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8EEFB"/>
                </a:solidFill>
                <a:latin typeface="Arial"/>
              </a:rPr>
              <a:t>What it proves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0" y="2615184"/>
            <a:ext cx="146304" cy="146304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03136" y="2542032"/>
            <a:ext cx="4535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Relational structure carries the signal - ML alone scores 0.35 precision on the same data.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3401568"/>
            <a:ext cx="146304" cy="146304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3328415"/>
            <a:ext cx="4535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Shape matching alone flags 18 of 19 legitimate businesses. Discrimination is the product.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4187952"/>
            <a:ext cx="146304" cy="146304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4114800"/>
            <a:ext cx="4535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Streaming detection is strictly harder than batch, and we publish the curve that shows it.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4974336"/>
            <a:ext cx="146304" cy="146304"/>
          </a:xfrm>
          <a:prstGeom prst="ellipse">
            <a:avLst/>
          </a:prstGeom>
          <a:solidFill>
            <a:srgbClr val="2EC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4901183"/>
            <a:ext cx="4535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Thresholds are budget decisions, and we cost them in headcount and rupees.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998464"/>
            <a:ext cx="110550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8EEFB"/>
                </a:solidFill>
                <a:latin typeface="Arial"/>
              </a:rPr>
              <a:t>Most AML demos prove they can find a pattern.  We spent our time proving we can tell a laundering ring from a business that merely looks like one.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