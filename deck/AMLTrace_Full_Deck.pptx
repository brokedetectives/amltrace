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AMLTrace. The one-line pitch: most AML demos prove they can find a pattern. We spent our time proving we can tell a laundering ring apart from a business that merely looks like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pain: banks are not short of alerts, they are short of correct ones. The third bullet is the one we attack - it is the reason published numbers look better than deployed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Show, do not tell: this is a running Flask app with zero front-end dependencies - no CDN, no build step. It works with the venue wifi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this if anyone challenges the data. No public AML dataset is real, for the same legal reason. What we can do - and did - is pin every parameter to a published RBI, NPCI or FIU-IND figure, and show the citation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layer split is the design argument. An unsupervised score cannot originate an STR, so L5 and L6 can only raise the score of an account a rule already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judge asks 'why is your ML not doing the detection' - this is the slide. It is a deliberate constraint,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last bar against the one above it. This is the case for graph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slow down on. We deliberately made our own numbers worse in order to measure the thing that actually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family is targeted at exactly one detector. If the detector only knows shape, it cannot survive any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encode economics, not geometry - which is why they generalise beyond the specific decoys we planted.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a worse number is the most credible thing in the deck. Any AML result quoted without this curve is quoting the easiest number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day of lag is another day the money is gone. Structuring rings are slowest because the pattern needs several transfers before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correctness point as much as a feature: deriving rings from labels is a leak that silently inflates every community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 is the deliverable a bank is legally required to produce. Generating it end to end is what makes this a compliance tool rather than a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panel speaks to the banking judges. Nobody else in the room will have costed their own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 this before anyone finds it. The headline 1.00 is seed-specific; the honest claim is mean precision 0.97 and recall 1.00 across ten independent ledgers. The five-seed sweep in the Detection Lab shows the same thing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question a judge can ask, so ask it first. Rule-based AML is threshold-bound by construction. Name the ceiling here, then show on the next slide what we did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ledger is a peeling chain, a typology with no layer of its own in this engine. It is here to answer whether layer 9 generalises or has just been fitted to the first attack. Nothing in it was used to tune a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zero-dependency front end is a deliberate demo-risk decision, not a shortcut.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one-liner. Then offer the live demo: stage planes, then the hard-negative table, then move a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networ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4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888736"/>
            <a:ext cx="128016" cy="128016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5888736"/>
            <a:ext cx="128016" cy="128016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5888736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E0D8"/>
                </a:solidFill>
                <a:latin typeface="Arial"/>
              </a:rPr>
              <a:t>BUILTNBANK  ·  IGTDW, IIT DELHI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6766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E8EEFB"/>
                </a:solidFill>
                <a:latin typeface="Arial"/>
              </a:rPr>
              <a:t>AMLTrace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93A6C8"/>
                </a:solidFill>
                <a:latin typeface="Arial"/>
              </a:rPr>
              <a:t>Tracing financial crime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93A6C8"/>
                </a:solidFill>
                <a:latin typeface="Arial"/>
              </a:rPr>
              <a:t>across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60520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93A6C8"/>
                </a:solidFill>
                <a:latin typeface="Calibri"/>
              </a:rPr>
              <a:t>An anti-money-laundering investigation console. Eight detection layers over a directed money-flow graph - and four economic tests that decide whether a suspicious shape is actually a crime.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583387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A7FA6"/>
                </a:solidFill>
                <a:latin typeface="Calibri"/>
              </a:rPr>
              <a:t>187 accounts   ·   301 transactions   ·   35 alerts   ·   9 rings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Why AML systems drown their own analysts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520440" cy="124358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20240"/>
            <a:ext cx="3118104" cy="53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4D6D"/>
                </a:solidFill>
                <a:latin typeface="Arial"/>
              </a:rPr>
              <a:t>90-95%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01987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of AML alerts at large banks are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22611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industry-reported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783080"/>
            <a:ext cx="3520440" cy="124358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920240"/>
            <a:ext cx="3118104" cy="53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9F43"/>
                </a:solidFill>
                <a:latin typeface="Arial"/>
              </a:rPr>
              <a:t>~6%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501987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of alerts convert into a filed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922611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the rest is salaried review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5" y="1783080"/>
            <a:ext cx="3520440" cy="124358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920240"/>
            <a:ext cx="3118104" cy="409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38E0D8"/>
                </a:solidFill>
                <a:latin typeface="Arial"/>
              </a:rPr>
              <a:t>Shape ≠ crime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375863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the failure nobody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796487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a legitimate business has the same topology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37560"/>
            <a:ext cx="11055096" cy="265176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118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8EEFB"/>
                </a:solidFill>
                <a:latin typeface="Arial"/>
              </a:rPr>
              <a:t>The structural problem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210812"/>
            <a:ext cx="182880" cy="182880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4160520"/>
            <a:ext cx="100035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EFB"/>
                </a:solidFill>
                <a:latin typeface="Arial"/>
              </a:rPr>
              <a:t>Rules alone are blind to structure.  </a:t>
            </a:r>
            <a:r>
              <a:rPr sz="1250" b="0" i="0">
                <a:solidFill>
                  <a:srgbClr val="93A6C8"/>
                </a:solidFill>
                <a:latin typeface="Calibri"/>
              </a:rPr>
              <a:t>A single transfer is unremarkable; the crime lives in who pays whom, in what shape, in what order.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14316"/>
            <a:ext cx="182880" cy="18288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4764024"/>
            <a:ext cx="100035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EFB"/>
                </a:solidFill>
                <a:latin typeface="Arial"/>
              </a:rPr>
              <a:t>Machine learning alone is unexplainable.  </a:t>
            </a:r>
            <a:r>
              <a:rPr sz="1250" b="0" i="0">
                <a:solidFill>
                  <a:srgbClr val="93A6C8"/>
                </a:solidFill>
                <a:latin typeface="Calibri"/>
              </a:rPr>
              <a:t>An anomaly score is not a ground of suspicion you can put in front of a regulator.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5417820"/>
            <a:ext cx="182880" cy="18288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5367528"/>
            <a:ext cx="100035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EFB"/>
                </a:solidFill>
                <a:latin typeface="Arial"/>
              </a:rPr>
              <a:t>Everyone benchmarks on data where only criminals form triangles.  </a:t>
            </a:r>
            <a:r>
              <a:rPr sz="1250" b="0" i="0">
                <a:solidFill>
                  <a:srgbClr val="93A6C8"/>
                </a:solidFill>
                <a:latin typeface="Calibri"/>
              </a:rPr>
              <a:t>So precision is measured against a problem nobody actually has.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AMLTrace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A working investigation console, not a notebook of metrics</a:t>
            </a:r>
          </a:p>
        </p:txBody>
      </p:sp>
      <p:pic>
        <p:nvPicPr>
          <p:cNvPr id="6" name="Picture 5" descr="networ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02610"/>
            <a:ext cx="5669280" cy="385861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66928" y="1924812"/>
            <a:ext cx="182880" cy="18288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Alert queue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Every account triaged by risk, each with grounds of suspicion in plain English.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647188"/>
            <a:ext cx="182880" cy="182880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96896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Interactive network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3D money-flow graph; laundering stages as depth planes.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369564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19272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Laundering timeline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Placement → layering → integration, reconstructed per ring.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091939"/>
            <a:ext cx="182880" cy="18288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41648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Streaming replay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Detection re-run day by day, as the money actually moves.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814316"/>
            <a:ext cx="182880" cy="182880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764024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FIU-IND STR generator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Filing-ready reports under PMLA 2002, Section 12.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5536692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86400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Detection lab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Every threshold live-tunable; the pipeline re-runs in seconds.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Where this data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The first question anyone should ask an AML system, answered in full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20440" cy="26060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029968"/>
            <a:ext cx="274320" cy="27432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8716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9F43"/>
                </a:solidFill>
                <a:latin typeface="Arial"/>
              </a:rPr>
              <a:t>WHY IT IS SYNTHETIC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3A6C8"/>
                </a:solidFill>
                <a:latin typeface="Calibri"/>
              </a:rPr>
              <a:t>Account-level Indian transaction data is not publicly available and cannot be. Customer records are protected by RBI regulation, by PMLA confidentiality and by the DPDP Act 2023 - no bank or regulator publishes a customer ledger. Every public AML dataset, including IBM's and PaySim, is synthetic for the same reason.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783080"/>
            <a:ext cx="3520440" cy="26060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2856" y="2029968"/>
            <a:ext cx="274320" cy="27432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48716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E0D8"/>
                </a:solidFill>
                <a:latin typeface="Arial"/>
              </a:rPr>
              <a:t>WHAT IN IT IS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3464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3A6C8"/>
                </a:solidFill>
                <a:latin typeface="Calibri"/>
              </a:rPr>
              <a:t>The rails, the thresholds and the money. Channel mix, average ticket size per rail, the CTR reporting threshold, the RTGS floor, per-transaction caps and the institution codes are all taken from RBI, NPCI and FIU-IND publications and are cited line by line below.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83080"/>
            <a:ext cx="3520440" cy="26060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84464" y="2029968"/>
            <a:ext cx="274320" cy="274320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48716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4D6D"/>
                </a:solidFill>
                <a:latin typeface="Arial"/>
              </a:rPr>
              <a:t>WHAT IS INVENTED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83464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3A6C8"/>
                </a:solidFill>
                <a:latin typeface="Calibri"/>
              </a:rPr>
              <a:t>The accounts, the counterparties and the laundering rings are invented. No real person, account or institution's activity appears anywhere in this 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26280"/>
            <a:ext cx="11055096" cy="1481328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700016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Calibrated to published RBI, NPCI and FIU-IND figures - cited line by line in the app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" y="5166359"/>
            <a:ext cx="146304" cy="146304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120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Channel mix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UPI 85% of volume, 9% of value</a:t>
            </a:r>
          </a:p>
        </p:txBody>
      </p:sp>
      <p:sp>
        <p:nvSpPr>
          <p:cNvPr id="22" name="Oval 21"/>
          <p:cNvSpPr/>
          <p:nvPr/>
        </p:nvSpPr>
        <p:spPr>
          <a:xfrm>
            <a:off x="4462272" y="5166359"/>
            <a:ext cx="146304" cy="146304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5120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Average ticket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UPI Rs 1,347 · NEFT Rs 48,200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0" y="5166359"/>
            <a:ext cx="146304" cy="146304"/>
          </a:xfrm>
          <a:prstGeom prst="ellipse">
            <a:avLst/>
          </a:prstGeom>
          <a:solidFill>
            <a:srgbClr val="2EC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5120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CTR threshold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Rs 10,00,000 (PMLR 2005)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" y="5568696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" y="55229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RTGS floor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Rs 2,00,000 per transfer</a:t>
            </a:r>
          </a:p>
        </p:txBody>
      </p:sp>
      <p:sp>
        <p:nvSpPr>
          <p:cNvPr id="28" name="Oval 27"/>
          <p:cNvSpPr/>
          <p:nvPr/>
        </p:nvSpPr>
        <p:spPr>
          <a:xfrm>
            <a:off x="4462272" y="5568696"/>
            <a:ext cx="146304" cy="14630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4" y="55229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Caps honoured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UPI Rs 1L · IMPS Rs 5L</a:t>
            </a:r>
          </a:p>
        </p:txBody>
      </p:sp>
      <p:sp>
        <p:nvSpPr>
          <p:cNvPr id="30" name="Oval 29"/>
          <p:cNvSpPr/>
          <p:nvPr/>
        </p:nvSpPr>
        <p:spPr>
          <a:xfrm>
            <a:off x="8046720" y="5568696"/>
            <a:ext cx="146304" cy="146304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55229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Institutions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12 real IFSC prefixes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144768"/>
            <a:ext cx="110550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A7FA6"/>
                </a:solidFill>
                <a:latin typeface="Calibri"/>
              </a:rPr>
              <a:t>Account-level Indian transaction data is not public and cannot be - it is protected by RBI regulation, PMLA confidentiality and the DPDP Act 2023.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Eight detection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Rules and topology raise the alert; ML only corroborates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358384" cy="96926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130552"/>
            <a:ext cx="256032" cy="256032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7" y="1938528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L1  Structuring / smurfing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286000"/>
            <a:ext cx="4553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Transfers sized just under the Rs 10,00,000 CTR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80360"/>
            <a:ext cx="5358384" cy="96926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3227832"/>
            <a:ext cx="256032" cy="256032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3035808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L2  Fan-out to fan-in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3383280"/>
            <a:ext cx="4553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Funds split across intermediaries, reconverging on one account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77639"/>
            <a:ext cx="5358384" cy="96926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4325112"/>
            <a:ext cx="256032" cy="256032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4133087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L3  Circular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4480559"/>
            <a:ext cx="4553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Money that round-trips to its origin, closing fast and in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074920"/>
            <a:ext cx="5358384" cy="96926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5422392"/>
            <a:ext cx="256032" cy="256032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7" y="5230368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L4  Pass-through conduit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7" y="5577840"/>
            <a:ext cx="4553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Receive and forward the same sum within a day - the mule signature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1783080"/>
            <a:ext cx="5358384" cy="96926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64808" y="2130552"/>
            <a:ext cx="256032" cy="256032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7144" y="1938528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L5  Sub-network chokepoint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2286000"/>
            <a:ext cx="4553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Betweenness inside the suspicious sub-graph, not the whole book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2880360"/>
            <a:ext cx="5358384" cy="96926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4808" y="3227832"/>
            <a:ext cx="256032" cy="256032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67144" y="3035808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L6  Behavioural anomaly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3383280"/>
            <a:ext cx="4553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IsolationForest over nine per-account features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7064" y="3977639"/>
            <a:ext cx="5358384" cy="96926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64808" y="4325112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67144" y="4133087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L7  Suspicion propagation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4480559"/>
            <a:ext cx="4553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Unflagged accounts exposed to confirmed alerts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7064" y="5074920"/>
            <a:ext cx="5358384" cy="96926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64808" y="5422392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67144" y="5230368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L8  Laundering timeline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7144" y="5577840"/>
            <a:ext cx="4553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Placement / layering / integration attribution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E0D8"/>
                </a:solidFill>
                <a:latin typeface="Calibri"/>
              </a:rPr>
              <a:t>Primary </a:t>
            </a:r>
            <a:r>
              <a:rPr sz="1200" b="0" i="0">
                <a:solidFill>
                  <a:srgbClr val="93A6C8"/>
                </a:solidFill>
                <a:latin typeface="Calibri"/>
              </a:rPr>
              <a:t>raise alerts    </a:t>
            </a:r>
            <a:r>
              <a:rPr sz="1200" b="1" i="0">
                <a:solidFill>
                  <a:srgbClr val="4D7CFF"/>
                </a:solidFill>
                <a:latin typeface="Calibri"/>
              </a:rPr>
              <a:t>Corroborating </a:t>
            </a:r>
            <a:r>
              <a:rPr sz="1200" b="0" i="0">
                <a:solidFill>
                  <a:srgbClr val="93A6C8"/>
                </a:solidFill>
                <a:latin typeface="Calibri"/>
              </a:rPr>
              <a:t>can only raise an existing score    </a:t>
            </a:r>
            <a:r>
              <a:rPr sz="1200" b="1" i="0">
                <a:solidFill>
                  <a:srgbClr val="8B5CF6"/>
                </a:solidFill>
                <a:latin typeface="Calibri"/>
              </a:rPr>
              <a:t>Lead generation </a:t>
            </a:r>
            <a:r>
              <a:rPr sz="1200" b="0" i="0">
                <a:solidFill>
                  <a:srgbClr val="93A6C8"/>
                </a:solidFill>
                <a:latin typeface="Calibri"/>
              </a:rPr>
              <a:t>never touches the metrics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Evidence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The rule that stops the metrics flattering themselves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20440" cy="402336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057400"/>
            <a:ext cx="310896" cy="310896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54203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71216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Raises the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10128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Structuring, fan patterns, cycles, pass-through conduits. Rule- and graph-based, so every alert can be explained as a sentence a compliance officer could read to a regulator.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783080"/>
            <a:ext cx="3520440" cy="402336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2856" y="2057400"/>
            <a:ext cx="310896" cy="310896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254203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4D7CFF"/>
                </a:solidFill>
                <a:latin typeface="Arial"/>
              </a:rPr>
              <a:t>CORROBORATING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871216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Cannot create an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310128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Centrality and IsolationForest may only raise the score of an account a primary layer already flagged. An anomaly score is not, on its own, a defensible ground of suspicion.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83080"/>
            <a:ext cx="3520440" cy="402336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84464" y="2057400"/>
            <a:ext cx="310896" cy="3108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54203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B5CF6"/>
                </a:solidFill>
                <a:latin typeface="Arial"/>
              </a:rPr>
              <a:t>LEAD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871216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Outside the pipeline entirely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310128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Suspicion propagation produces a watchlist of accounts no rule flagged. It is deliberately excluded from precision and recall, so guilt-by-association can never inflate a number.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961888"/>
            <a:ext cx="11055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6A7FA6"/>
                </a:solidFill>
                <a:latin typeface="Calibri"/>
              </a:rPr>
              <a:t>This is why the numbers on the next slides mean something: nothing that could not be defended in a filing is allowed to contribute to them.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Each layer earns its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Layers switched on cumulatively, against ground truth</a:t>
            </a:r>
          </a:p>
        </p:txBody>
      </p:sp>
      <p:pic>
        <p:nvPicPr>
          <p:cNvPr id="6" name="Picture 5" descr="char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7680960" cy="34428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22207" y="1828800"/>
            <a:ext cx="3108960" cy="13716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23376" y="1965960"/>
            <a:ext cx="270662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ECC8F"/>
                </a:solidFill>
                <a:latin typeface="Arial"/>
              </a:rPr>
              <a:t>1.00 / 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3376" y="2484645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Precision / recall, full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23376" y="2905269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F1 1.00  ·  0 false positives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22207" y="3346704"/>
            <a:ext cx="3108960" cy="13716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23376" y="3483864"/>
            <a:ext cx="270662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4D6D"/>
                </a:solidFill>
                <a:latin typeface="Arial"/>
              </a:rPr>
              <a:t>0.35 / 0.17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4002549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ML alone, no graph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4423173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the honest baseline for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4919472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Point-wise anomaly detection recovers a fraction of the network at half the precision. The signal in laundering is relational, not behavioural.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But every detector scores well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So we built a ledger designed to break it</a:t>
            </a:r>
          </a:p>
        </p:txBody>
      </p:sp>
      <p:pic>
        <p:nvPicPr>
          <p:cNvPr id="6" name="Picture 5" descr="chart_hardn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858000" cy="37576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90688" y="1783080"/>
            <a:ext cx="3840480" cy="42062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5875">
            <a:solidFill>
              <a:srgbClr val="FF4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01583" y="2029968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19 lawful businesses, engineered to have identical topology to each typology.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3" y="3035808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00" b="0" i="0">
                <a:solidFill>
                  <a:srgbClr val="93A6C8"/>
                </a:solidFill>
                <a:latin typeface="Calibri"/>
              </a:rPr>
              <a:t>None of them is labelled fraud. Each family reproduces the shape of one crime.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 i="0">
                <a:solidFill>
                  <a:srgbClr val="FF4D6D"/>
                </a:solidFill>
                <a:latin typeface="Calibri"/>
              </a:rPr>
              <a:t>A detector that matches shape alone flags 18 of the 19.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00" b="0" i="0">
                <a:solidFill>
                  <a:srgbClr val="93A6C8"/>
                </a:solidFill>
                <a:latin typeface="Calibri"/>
              </a:rPr>
              <a:t>That is the number no AML demo shows - and it is the difference between a pattern matcher and a product.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Lawful activity that looks exactly like laundering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5358384" cy="2048256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057400"/>
            <a:ext cx="274320" cy="274320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203911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96312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Customer pays 3 contractors who all buy from one distributor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35224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A7FA6"/>
                </a:solidFill>
                <a:latin typeface="Calibri"/>
              </a:rPr>
              <a:t>LOOKS LIKE  </a:t>
            </a:r>
            <a:r>
              <a:rPr sz="1050" b="1" i="0">
                <a:solidFill>
                  <a:srgbClr val="4D7CFF"/>
                </a:solidFill>
                <a:latin typeface="Arial"/>
              </a:rPr>
              <a:t>FAN-OUT / FAN-IN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82696"/>
            <a:ext cx="48097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Calibri"/>
              </a:rPr>
              <a:t>Why it is not a crime:  </a:t>
            </a:r>
            <a:r>
              <a:rPr sz="1150" b="0" i="0">
                <a:solidFill>
                  <a:srgbClr val="93A6C8"/>
                </a:solidFill>
                <a:latin typeface="Calibri"/>
              </a:rPr>
              <a:t>The contractors have their own unrelated trade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783080"/>
            <a:ext cx="5358384" cy="2048256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1384" y="205740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03911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Card settlement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496312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Merchant, payment processor and acquirer settle back and forth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935224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A7FA6"/>
                </a:solidFill>
                <a:latin typeface="Calibri"/>
              </a:rPr>
              <a:t>LOOKS LIKE  </a:t>
            </a:r>
            <a:r>
              <a:rPr sz="1050" b="1" i="0">
                <a:solidFill>
                  <a:srgbClr val="8B5CF6"/>
                </a:solidFill>
                <a:latin typeface="Arial"/>
              </a:rPr>
              <a:t>CIRCULAR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282696"/>
            <a:ext cx="48097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Calibri"/>
              </a:rPr>
              <a:t>Why it is not a crime:  </a:t>
            </a:r>
            <a:r>
              <a:rPr sz="1150" b="0" i="0">
                <a:solidFill>
                  <a:srgbClr val="93A6C8"/>
                </a:solidFill>
                <a:latin typeface="Calibri"/>
              </a:rPr>
              <a:t>A standing commercial relationship, repeated for months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95928"/>
            <a:ext cx="5358384" cy="2048256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7" y="4270248"/>
            <a:ext cx="274320" cy="27432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584" y="425196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Escrow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709160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Receives and forwards near-identical sums within a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148072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A7FA6"/>
                </a:solidFill>
                <a:latin typeface="Calibri"/>
              </a:rPr>
              <a:t>LOOKS LIKE  </a:t>
            </a:r>
            <a:r>
              <a:rPr sz="1050" b="1" i="0">
                <a:solidFill>
                  <a:srgbClr val="38E0D8"/>
                </a:solidFill>
                <a:latin typeface="Arial"/>
              </a:rPr>
              <a:t>PASS-THROUGH CONDUIT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495544"/>
            <a:ext cx="48097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Calibri"/>
              </a:rPr>
              <a:t>Why it is not a crime:  </a:t>
            </a:r>
            <a:r>
              <a:rPr sz="1150" b="0" i="0">
                <a:solidFill>
                  <a:srgbClr val="93A6C8"/>
                </a:solidFill>
                <a:latin typeface="Calibri"/>
              </a:rPr>
              <a:t>Does it openly, with many counterparties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995928"/>
            <a:ext cx="5358384" cy="2048256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01384" y="4270248"/>
            <a:ext cx="274320" cy="27432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425196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Payroll bureau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709160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Paid repeatedly just under the CTR reporting 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5148072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A7FA6"/>
                </a:solidFill>
                <a:latin typeface="Calibri"/>
              </a:rPr>
              <a:t>LOOKS LIKE  </a:t>
            </a:r>
            <a:r>
              <a:rPr sz="1050" b="1" i="0">
                <a:solidFill>
                  <a:srgbClr val="FF9F43"/>
                </a:solidFill>
                <a:latin typeface="Arial"/>
              </a:rPr>
              <a:t>STRUCTURING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5495544"/>
            <a:ext cx="48097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Calibri"/>
              </a:rPr>
              <a:t>Why it is not a crime:  </a:t>
            </a:r>
            <a:r>
              <a:rPr sz="1150" b="0" i="0">
                <a:solidFill>
                  <a:srgbClr val="93A6C8"/>
                </a:solidFill>
                <a:latin typeface="Calibri"/>
              </a:rPr>
              <a:t>Also sends sums above the line - it is not avoiding 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Four economic tests, not geometric 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Turning each off, in isolation</a:t>
            </a:r>
          </a:p>
        </p:txBody>
      </p:sp>
      <p:pic>
        <p:nvPicPr>
          <p:cNvPr id="6" name="Picture 5" descr="chart_discrimin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949440" cy="2809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82127" y="1783080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6A7FA6"/>
                </a:solidFill>
                <a:latin typeface="Arial"/>
              </a:rPr>
              <a:t>WHAT SEPARATES THEM</a:t>
            </a:r>
          </a:p>
        </p:txBody>
      </p:sp>
      <p:sp>
        <p:nvSpPr>
          <p:cNvPr id="8" name="Oval 7"/>
          <p:cNvSpPr/>
          <p:nvPr/>
        </p:nvSpPr>
        <p:spPr>
          <a:xfrm>
            <a:off x="7882127" y="2258568"/>
            <a:ext cx="201168" cy="201168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12848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Threshold avoidance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 structurer never crosses the CTR line. A big biller sometimes does.</a:t>
            </a:r>
          </a:p>
        </p:txBody>
      </p:sp>
      <p:sp>
        <p:nvSpPr>
          <p:cNvPr id="10" name="Oval 9"/>
          <p:cNvSpPr/>
          <p:nvPr/>
        </p:nvSpPr>
        <p:spPr>
          <a:xfrm>
            <a:off x="7882127" y="3227832"/>
            <a:ext cx="201168" cy="201168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182112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Branch dedication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 mule has no other trade. A contractor has other customers.</a:t>
            </a:r>
          </a:p>
        </p:txBody>
      </p:sp>
      <p:sp>
        <p:nvSpPr>
          <p:cNvPr id="12" name="Oval 11"/>
          <p:cNvSpPr/>
          <p:nvPr/>
        </p:nvSpPr>
        <p:spPr>
          <a:xfrm>
            <a:off x="7882127" y="4197096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51376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Standing relationship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Round-tripping through a monthly counterparty is trade.</a:t>
            </a:r>
          </a:p>
        </p:txBody>
      </p:sp>
      <p:sp>
        <p:nvSpPr>
          <p:cNvPr id="14" name="Oval 13"/>
          <p:cNvSpPr/>
          <p:nvPr/>
        </p:nvSpPr>
        <p:spPr>
          <a:xfrm>
            <a:off x="7882127" y="5166359"/>
            <a:ext cx="201168" cy="201168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5120640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Settlement-rail recurrence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 rail repeats on a schedule. A mule is used once and burned.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60533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CC8F"/>
                </a:solidFill>
                <a:latin typeface="Arial"/>
              </a:rPr>
              <a:t>All four on: 0/19 wrongly flagged.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The number we could have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Same detector, run as a stream instead of a batch</a:t>
            </a:r>
          </a:p>
        </p:txBody>
      </p:sp>
      <p:pic>
        <p:nvPicPr>
          <p:cNvPr id="6" name="Picture 5" descr="chart_stre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7589520" cy="38468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22207" y="1783080"/>
            <a:ext cx="3108960" cy="11430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23376" y="1920240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ECC8F"/>
                </a:solidFill>
                <a:latin typeface="Arial"/>
              </a:rPr>
              <a:t>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3376" y="2470456"/>
            <a:ext cx="2706624" cy="327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Batch precision, month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22207" y="3054096"/>
            <a:ext cx="3108960" cy="132588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3376" y="3191256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4D6D"/>
                </a:solidFill>
                <a:latin typeface="Arial"/>
              </a:rPr>
              <a:t>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3376" y="3741472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Streaming precision on day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4162096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reaches the batch figure on day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457200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The discriminators are evidence-hungry. A settlement rail is indistinguishable from a mule until you have watched it settle three times - so lawful accounts are provisionally flagged, then correctly released.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Detection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The metric that decides whether funds are still freezable</a:t>
            </a:r>
          </a:p>
        </p:txBody>
      </p:sp>
      <p:pic>
        <p:nvPicPr>
          <p:cNvPr id="6" name="Picture 5" descr="chart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498079" cy="32721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30767" y="1783080"/>
            <a:ext cx="3200400" cy="1207008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1936" y="1920240"/>
            <a:ext cx="279806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9F43"/>
                </a:solidFill>
                <a:latin typeface="Arial"/>
              </a:rPr>
              <a:t>4.23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1936" y="2438925"/>
            <a:ext cx="2798064" cy="42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Mean lag from first transaction to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7" y="3136392"/>
            <a:ext cx="3200400" cy="1207008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1936" y="3273552"/>
            <a:ext cx="279806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38E0D8"/>
                </a:solidFill>
                <a:latin typeface="Arial"/>
              </a:rPr>
              <a:t>day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1936" y="3792237"/>
            <a:ext cx="2798064" cy="42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First alert possible in the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7" y="4489704"/>
            <a:ext cx="3200400" cy="1316736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1936" y="4626864"/>
            <a:ext cx="279806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ECC8F"/>
                </a:solidFill>
                <a:latin typeface="Arial"/>
              </a:rPr>
              <a:t>35 of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5145549"/>
            <a:ext cx="2798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Laundering accounts eventually surfaced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5566173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0 never detected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Rings are discovered, not assumed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Communities come from the detected alerts - never from the labels</a:t>
            </a:r>
          </a:p>
        </p:txBody>
      </p:sp>
      <p:pic>
        <p:nvPicPr>
          <p:cNvPr id="6" name="Picture 5" descr="networ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863536"/>
            <a:ext cx="5943600" cy="404532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66928" y="1924812"/>
            <a:ext cx="182880" cy="18288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470001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9 rings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found as connected components of the alert sub-network, which is what the system would produce on unlabelled production data.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985516"/>
            <a:ext cx="182880" cy="18288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35224"/>
            <a:ext cx="470001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One deliberate bridge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a fan-in consolidation account wires straight into a mule chain. Nothing tells the detector they are related.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046219"/>
            <a:ext cx="182880" cy="182880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95927"/>
            <a:ext cx="470001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It merges them itself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into RING-01, and marks that account the only CRITICAL in the case - two independent typologies converge on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30368"/>
            <a:ext cx="5029200" cy="96012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413248"/>
            <a:ext cx="45171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Most projects derive communities from the ground truth. On real data that produces nothing.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What an analyst actually receives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440680" cy="43434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93392"/>
            <a:ext cx="292608" cy="292608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505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E8EEFB"/>
                </a:solidFill>
                <a:latin typeface="Arial"/>
              </a:rPr>
              <a:t>FIU-IND Suspicious Transaction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871216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38E0D8"/>
                </a:solidFill>
                <a:latin typeface="Calibri"/>
              </a:rPr>
              <a:t>Section 12, PMLA 2002 r/w Rule 3, PMLR 2005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10128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A - Subject account, risk tier, action taken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712464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B - Grounds of suspicion, in narrative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11480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C - Transaction profile and CTR-adjacent credits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517136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D - Behavioural deviation, as z-scores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919472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E - Immediate counterparty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321808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F - Regulatory basis and signature blocks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737360"/>
            <a:ext cx="5440680" cy="43434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993392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505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E8EEFB"/>
                </a:solidFill>
                <a:latin typeface="Arial"/>
              </a:rPr>
              <a:t>Suspicion propagation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71216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B5CF6"/>
                </a:solidFill>
                <a:latin typeface="Calibri"/>
              </a:rPr>
              <a:t>Lead generation, kept outside the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10128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Two independent views of guilt-by-association: bounded-hop contamination with geometric decay, and personalised PageRank seeded on confirmed alerts.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Where the two rankings agree, the lead is strong. The contamination view returns the actual path back to the nearest known-bad account - which is what an investigator needs to open a file.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 i="0">
                <a:solidFill>
                  <a:srgbClr val="E8EEFB"/>
                </a:solidFill>
                <a:latin typeface="Calibri"/>
              </a:rPr>
              <a:t>25 accounts surfaced that no rule flagged.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0"/>
            <a:ext cx="110550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6A7FA6"/>
                </a:solidFill>
                <a:latin typeface="Calibri"/>
              </a:rPr>
              <a:t>Every alert, ring, timeline event and watchlist entry also exports to CSV; metrics to JSON.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Every threshold is a budget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Detection quality is not the decision a bank makes - staffing is</a:t>
            </a:r>
          </a:p>
        </p:txBody>
      </p:sp>
      <p:pic>
        <p:nvPicPr>
          <p:cNvPr id="6" name="Picture 5" descr="chart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406640" cy="34082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39327" y="1783080"/>
            <a:ext cx="3291840" cy="12344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0496" y="1920240"/>
            <a:ext cx="288950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4D7CFF"/>
                </a:solidFill>
                <a:latin typeface="Arial"/>
              </a:rPr>
              <a:t>0.41 FTE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0496" y="2438925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Analyst headcount at current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859549"/>
            <a:ext cx="2889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Rs 8.76 L a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3145536"/>
            <a:ext cx="3291840" cy="12344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3282696"/>
            <a:ext cx="288950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9F43"/>
                </a:solidFill>
                <a:latin typeface="Arial"/>
              </a:rPr>
              <a:t>Rs 2,057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0496" y="3801381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Cost to review one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4222005"/>
            <a:ext cx="2889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Rs 7.40 L surfaced per analyst hour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4553712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Tightening the fan-branch rule from 3 to 4 cuts cost by a third - and throws away 40% of recall. There is no free precision, which is exactly why the threshold should be an explicit, costed decision rather than a hard-coded constant.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Is 1.00 the real number?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Ten ledgers the thresholds were never tuned on</a:t>
            </a:r>
          </a:p>
        </p:txBody>
      </p:sp>
      <p:pic>
        <p:nvPicPr>
          <p:cNvPr id="6" name="Picture 5" descr="chart_s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7589520" cy="36140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22207" y="1783080"/>
            <a:ext cx="3108960" cy="132588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23376" y="1920240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9F43"/>
                </a:solidFill>
                <a:latin typeface="Arial"/>
              </a:rPr>
              <a:t>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3376" y="2470456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Mean precision across 10 random ledgers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23376" y="2891080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lowest seed: 1.000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22207" y="3246120"/>
            <a:ext cx="3108960" cy="132588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23376" y="3383279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ECC8F"/>
                </a:solidFill>
                <a:latin typeface="Arial"/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3933496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Recall - on every seed, without 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4354120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no laundering account was ever missed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4736592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10 of 10 ledgers score a clean 1.00. </a:t>
            </a:r>
            <a:r>
              <a:rPr sz="1200" b="1" i="0">
                <a:solidFill>
                  <a:srgbClr val="2ECC8F"/>
                </a:solidFill>
                <a:latin typeface="Calibri"/>
              </a:rPr>
              <a:t>None fall short.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The app ships a five-seed sweep so a judge can rerun this live, on ledgers the detector has never seen.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What happens when criminals stop being textbook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Same thresholds, patterns bent toward the legitimate side</a:t>
            </a:r>
          </a:p>
        </p:txBody>
      </p:sp>
      <p:pic>
        <p:nvPicPr>
          <p:cNvPr id="6" name="Picture 5" descr="chart_advers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7223760" cy="34668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19288" y="1783080"/>
            <a:ext cx="3611880" cy="416052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5875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048256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Every threshold is an evasion instruction if you know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608" y="2944368"/>
            <a:ext cx="3063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Hold funds one day longer, spread deposits over two weeks, close the loop more slowly - and recall falls from 1.00 to as low as 0.89.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 i="0">
                <a:solidFill>
                  <a:srgbClr val="E8EEFB"/>
                </a:solidFill>
                <a:latin typeface="Calibri"/>
              </a:rPr>
              <a:t>Precision never moves.</a:t>
            </a:r>
            <a:r>
              <a:rPr sz="1250" b="0" i="0">
                <a:solidFill>
                  <a:srgbClr val="93A6C8"/>
                </a:solidFill>
                <a:latin typeface="Calibri"/>
              </a:rPr>
              <a:t> The system does not start accusing the innocent; it goes quiet. For a compliance control that is the right failure mode, and the wrong one to leave unmeasured.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38E0D8"/>
                </a:solidFill>
                <a:latin typeface="Calibri"/>
              </a:rPr>
              <a:t>So we built the answer rather than listing it as future work. The next slide is layer 9, which scores the evasion itself.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Detecting the evasion, not the typology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Two ledgers built to defeat our own published thresholds</a:t>
            </a:r>
          </a:p>
        </p:txBody>
      </p:sp>
      <p:pic>
        <p:nvPicPr>
          <p:cNvPr id="6" name="Picture 5" descr="chart_eva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7223760" cy="39442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19288" y="1783080"/>
            <a:ext cx="3611880" cy="416052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048256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A rule you can read is a rule you can stand next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608" y="2944368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Layer 9 scores three things a launderer cannot drop and still launder: hops arriving on a schedule, one sum keeping its size across a relay, and how much of an account is left once reciprocal cover traffic nets out.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Nothing in it is a threshold to sit outside of, and it reads the reporting line off the ledger instead of compiling ours 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 i="0">
                <a:solidFill>
                  <a:srgbClr val="38E0D8"/>
                </a:solidFill>
                <a:latin typeface="Calibri"/>
              </a:rPr>
              <a:t>14 of 14 accounts recovered, 0 false positives.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Built from scratch, runs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520440" cy="3127248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048256"/>
            <a:ext cx="274320" cy="27432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2048256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15184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Python 3 · NetworkX · pandas · 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163824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scikit-learn (IsolationForest)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712463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Pure library: no I/O, no globals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261104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analyse() is a pure function of ledger + 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83080"/>
            <a:ext cx="3520440" cy="3127248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2856" y="2048256"/>
            <a:ext cx="274320" cy="274320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2048256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615184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Flask - 15 JSON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163824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Live threshold re-runs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712463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CSV upload with schema auto-detection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261104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IBM AML · PaySim · AMLSim · Elliptic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83080"/>
            <a:ext cx="3520440" cy="3127248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4464" y="2048256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048256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615184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Vanilla ES6 - no React, no D3, no CDN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163824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Hand-written 3D force graph on canvas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3712463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All charts hand-drawn in SVG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4261104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Zero build step; works with wifi 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20640"/>
            <a:ext cx="3520440" cy="124358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257800"/>
            <a:ext cx="3118104" cy="409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38E0D8"/>
                </a:solidFill>
                <a:latin typeface="Arial"/>
              </a:rPr>
              <a:t>6,144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5713423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lines of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6134047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engine · service · interface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8536" y="5120640"/>
            <a:ext cx="3520440" cy="124358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5257800"/>
            <a:ext cx="3118104" cy="409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4D7CFF"/>
                </a:solidFill>
                <a:latin typeface="Arial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713423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views in the console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6134047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alerts to STR filing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5120640"/>
            <a:ext cx="3520440" cy="124358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5257800"/>
            <a:ext cx="3118104" cy="409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8B5CF6"/>
                </a:solidFill>
                <a:latin typeface="Arial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713423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runtime dependencies in the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6134047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nothing to fail on stage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What we would say if you pushed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440680" cy="41148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2A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011680"/>
            <a:ext cx="274320" cy="27432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20116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EEFB"/>
                </a:solidFill>
                <a:latin typeface="Arial"/>
              </a:rPr>
              <a:t>Honest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4203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Precision holds at 1.00 on all 10 random ledgers, so the number is a property of the method rather than of one lucky draw. The caveat that matters more: we wrote the generator and the detector, and they share a view of what laundering looks like.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602735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Rule thresholds are evadable by construction. A patient launderer costs us recall, not precision - the system goes quiet rather than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66344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The hard negatives are still ones we designed, and the ledger is synthetic. Adapters for four public datasets are built and tested; the data is separately licensed.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37360"/>
            <a:ext cx="5440680" cy="41148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4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011680"/>
            <a:ext cx="274320" cy="27432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EEFB"/>
                </a:solidFill>
                <a:latin typeface="Arial"/>
              </a:rPr>
              <a:t>What it proves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2615184"/>
            <a:ext cx="146304" cy="146304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2542032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Relational structure carries the signal - ML alone scores 0.35 precision on the same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3401568"/>
            <a:ext cx="146304" cy="146304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3328415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Shape matching alone flags 18 of 19 legitimate businesses. Discrimination is the product.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4187952"/>
            <a:ext cx="146304" cy="146304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4114800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Streaming detection is strictly harder than batch, and we publish the curve that shows it.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4974336"/>
            <a:ext cx="146304" cy="146304"/>
          </a:xfrm>
          <a:prstGeom prst="ellipse">
            <a:avLst/>
          </a:prstGeom>
          <a:solidFill>
            <a:srgbClr val="2EC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4901183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Thresholds are budget decisions, and we cost them in headcount and rupees.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98464"/>
            <a:ext cx="11055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Most AML demos prove they can find a pattern.  We spent our time proving we can tell a laundering ring from a business that merely looks like one.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