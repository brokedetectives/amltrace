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06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8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331720"/>
            <a:ext cx="9722815" cy="914400"/>
          </a:xfrm>
          <a:prstGeom prst="rect">
            <a:avLst/>
          </a:prstGeom>
          <a:noFill/>
        </p:spPr>
        <p:txBody>
          <a:bodyPr wrap="square" lIns="0" rIns="0" tIns="0" bIns="0" anchor="t">
            <a:spAutoFit/>
          </a:bodyPr>
          <a:lstStyle/>
          <a:p>
            <a:pPr algn="l">
              <a:spcAft>
                <a:spcPts val="200"/>
              </a:spcAft>
            </a:pPr>
            <a:r>
              <a:rPr sz="5400" b="1" i="0">
                <a:solidFill>
                  <a:srgbClr val="E8EEFB"/>
                </a:solidFill>
                <a:latin typeface="Arial"/>
              </a:rPr>
              <a:t>AMLTrace</a:t>
            </a:r>
          </a:p>
        </p:txBody>
      </p:sp>
      <p:sp>
        <p:nvSpPr>
          <p:cNvPr id="4" name="Rectangle 3"/>
          <p:cNvSpPr/>
          <p:nvPr/>
        </p:nvSpPr>
        <p:spPr>
          <a:xfrm>
            <a:off x="1234440" y="3310128"/>
            <a:ext cx="1463040" cy="32004"/>
          </a:xfrm>
          <a:prstGeom prst="rect">
            <a:avLst/>
          </a:prstGeom>
          <a:solidFill>
            <a:srgbClr val="38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3566160"/>
            <a:ext cx="9722815" cy="457200"/>
          </a:xfrm>
          <a:prstGeom prst="rect">
            <a:avLst/>
          </a:prstGeom>
          <a:noFill/>
        </p:spPr>
        <p:txBody>
          <a:bodyPr wrap="square" lIns="0" rIns="0" tIns="0" bIns="0" anchor="t">
            <a:spAutoFit/>
          </a:bodyPr>
          <a:lstStyle/>
          <a:p>
            <a:pPr algn="l">
              <a:spcAft>
                <a:spcPts val="0"/>
              </a:spcAft>
            </a:pPr>
            <a:r>
              <a:rPr sz="1800" b="0" i="0">
                <a:solidFill>
                  <a:srgbClr val="93A6C8"/>
                </a:solidFill>
                <a:latin typeface="Calibri"/>
              </a:rPr>
              <a:t>Detecting laundering patterns that span many accounts and many days</a:t>
            </a:r>
          </a:p>
        </p:txBody>
      </p:sp>
      <p:sp>
        <p:nvSpPr>
          <p:cNvPr id="6" name="TextBox 5"/>
          <p:cNvSpPr txBox="1"/>
          <p:nvPr/>
        </p:nvSpPr>
        <p:spPr>
          <a:xfrm>
            <a:off x="1234440" y="4224528"/>
            <a:ext cx="9722815" cy="365760"/>
          </a:xfrm>
          <a:prstGeom prst="rect">
            <a:avLst/>
          </a:prstGeom>
          <a:noFill/>
        </p:spPr>
        <p:txBody>
          <a:bodyPr wrap="square" lIns="0" rIns="0" tIns="0" bIns="0" anchor="t">
            <a:spAutoFit/>
          </a:bodyPr>
          <a:lstStyle/>
          <a:p>
            <a:pPr algn="l">
              <a:spcAft>
                <a:spcPts val="0"/>
              </a:spcAft>
            </a:pPr>
            <a:r>
              <a:rPr sz="1300" b="0" i="0">
                <a:solidFill>
                  <a:srgbClr val="6A7FA6"/>
                </a:solidFill>
                <a:latin typeface="Calibri"/>
              </a:rPr>
              <a:t>Team  </a:t>
            </a:r>
            <a:r>
              <a:rPr sz="1600" b="1" i="0">
                <a:solidFill>
                  <a:srgbClr val="38E0D8"/>
                </a:solidFill>
                <a:latin typeface="Arial"/>
              </a:rPr>
              <a:t>Broke Detectives</a:t>
            </a:r>
          </a:p>
        </p:txBody>
      </p:sp>
      <p:sp>
        <p:nvSpPr>
          <p:cNvPr id="7" name="TextBox 6"/>
          <p:cNvSpPr txBox="1"/>
          <p:nvPr/>
        </p:nvSpPr>
        <p:spPr>
          <a:xfrm>
            <a:off x="1234440" y="5120640"/>
            <a:ext cx="9722815" cy="822960"/>
          </a:xfrm>
          <a:prstGeom prst="rect">
            <a:avLst/>
          </a:prstGeom>
          <a:noFill/>
        </p:spPr>
        <p:txBody>
          <a:bodyPr wrap="square" lIns="0" rIns="0" tIns="0" bIns="0" anchor="t">
            <a:spAutoFit/>
          </a:bodyPr>
          <a:lstStyle/>
          <a:p>
            <a:pPr algn="l">
              <a:spcAft>
                <a:spcPts val="400"/>
              </a:spcAft>
            </a:pPr>
            <a:r>
              <a:rPr sz="1250" b="0" i="0">
                <a:solidFill>
                  <a:srgbClr val="6A7FA6"/>
                </a:solidFill>
                <a:latin typeface="Calibri"/>
              </a:rPr>
              <a:t>Problem statement 5, Tracing Financial Crime Across Patterns</a:t>
            </a:r>
          </a:p>
          <a:p>
            <a:pPr algn="l">
              <a:spcAft>
                <a:spcPts val="400"/>
              </a:spcAft>
            </a:pPr>
            <a:r>
              <a:rPr sz="1250" b="0" i="0">
                <a:solidFill>
                  <a:srgbClr val="6A7FA6"/>
                </a:solidFill>
                <a:latin typeface="Calibri"/>
              </a:rPr>
              <a:t>BuiltNBank, IIT Delhi (IGTDW)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C18"/>
        </a:solidFill>
        <a:effectLst/>
      </p:bgPr>
    </p:bg>
    <p:spTree>
      <p:nvGrpSpPr>
        <p:cNvPr id="1" name=""/>
        <p:cNvGrpSpPr/>
        <p:nvPr/>
      </p:nvGrpSpPr>
      <p:grpSpPr/>
      <p:sp>
        <p:nvSpPr>
          <p:cNvPr id="2" name="Oval 1"/>
          <p:cNvSpPr/>
          <p:nvPr/>
        </p:nvSpPr>
        <p:spPr>
          <a:xfrm>
            <a:off x="11240719" y="548640"/>
            <a:ext cx="384048" cy="384048"/>
          </a:xfrm>
          <a:prstGeom prst="ellipse">
            <a:avLst/>
          </a:prstGeom>
          <a:solidFill>
            <a:srgbClr val="16223C"/>
          </a:solidFill>
          <a:ln w="15875">
            <a:solidFill>
              <a:srgbClr val="38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0719" y="617219"/>
            <a:ext cx="384048" cy="274320"/>
          </a:xfrm>
          <a:prstGeom prst="rect">
            <a:avLst/>
          </a:prstGeom>
          <a:noFill/>
        </p:spPr>
        <p:txBody>
          <a:bodyPr wrap="square" lIns="0" rIns="0" tIns="0" bIns="0" anchor="t">
            <a:spAutoFit/>
          </a:bodyPr>
          <a:lstStyle/>
          <a:p>
            <a:pPr algn="ctr">
              <a:spcAft>
                <a:spcPts val="600"/>
              </a:spcAft>
            </a:pPr>
            <a:r>
              <a:rPr sz="1250" b="1" i="0">
                <a:solidFill>
                  <a:srgbClr val="38E0D8"/>
                </a:solidFill>
                <a:latin typeface="Arial"/>
              </a:rPr>
              <a:t>1</a:t>
            </a:r>
          </a:p>
        </p:txBody>
      </p:sp>
      <p:sp>
        <p:nvSpPr>
          <p:cNvPr id="4" name="TextBox 3"/>
          <p:cNvSpPr txBox="1"/>
          <p:nvPr/>
        </p:nvSpPr>
        <p:spPr>
          <a:xfrm>
            <a:off x="566928" y="502920"/>
            <a:ext cx="10417759" cy="566928"/>
          </a:xfrm>
          <a:prstGeom prst="rect">
            <a:avLst/>
          </a:prstGeom>
          <a:noFill/>
        </p:spPr>
        <p:txBody>
          <a:bodyPr wrap="square" lIns="0" rIns="0" tIns="0" bIns="0" anchor="t">
            <a:spAutoFit/>
          </a:bodyPr>
          <a:lstStyle/>
          <a:p>
            <a:pPr algn="l">
              <a:spcAft>
                <a:spcPts val="600"/>
              </a:spcAft>
            </a:pPr>
            <a:r>
              <a:rPr sz="3200" b="1" i="0">
                <a:solidFill>
                  <a:srgbClr val="E8EEFB"/>
                </a:solidFill>
                <a:latin typeface="Arial"/>
              </a:rPr>
              <a:t>Problem statement 5</a:t>
            </a:r>
          </a:p>
        </p:txBody>
      </p:sp>
      <p:sp>
        <p:nvSpPr>
          <p:cNvPr id="5" name="TextBox 4"/>
          <p:cNvSpPr txBox="1"/>
          <p:nvPr/>
        </p:nvSpPr>
        <p:spPr>
          <a:xfrm>
            <a:off x="566928" y="1078992"/>
            <a:ext cx="10417759" cy="384048"/>
          </a:xfrm>
          <a:prstGeom prst="rect">
            <a:avLst/>
          </a:prstGeom>
          <a:noFill/>
        </p:spPr>
        <p:txBody>
          <a:bodyPr wrap="square" lIns="0" rIns="0" tIns="0" bIns="0" anchor="t">
            <a:spAutoFit/>
          </a:bodyPr>
          <a:lstStyle/>
          <a:p>
            <a:pPr algn="l">
              <a:spcAft>
                <a:spcPts val="0"/>
              </a:spcAft>
            </a:pPr>
            <a:r>
              <a:rPr sz="1450" b="0" i="0">
                <a:solidFill>
                  <a:srgbClr val="93A6C8"/>
                </a:solidFill>
                <a:latin typeface="Calibri"/>
              </a:rPr>
              <a:t>Tracing Financial Crime Across Patterns</a:t>
            </a:r>
          </a:p>
        </p:txBody>
      </p:sp>
      <p:sp>
        <p:nvSpPr>
          <p:cNvPr id="6" name="Rounded Rectangle 5"/>
          <p:cNvSpPr/>
          <p:nvPr/>
        </p:nvSpPr>
        <p:spPr>
          <a:xfrm>
            <a:off x="566928" y="1572768"/>
            <a:ext cx="11057839" cy="1700784"/>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572768"/>
            <a:ext cx="54864" cy="1700784"/>
          </a:xfrm>
          <a:prstGeom prst="rect">
            <a:avLst/>
          </a:prstGeom>
          <a:solidFill>
            <a:srgbClr val="38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83080"/>
            <a:ext cx="10399471" cy="1371600"/>
          </a:xfrm>
          <a:prstGeom prst="rect">
            <a:avLst/>
          </a:prstGeom>
          <a:noFill/>
        </p:spPr>
        <p:txBody>
          <a:bodyPr wrap="square" lIns="0" rIns="0" tIns="0" bIns="0" anchor="t">
            <a:spAutoFit/>
          </a:bodyPr>
          <a:lstStyle/>
          <a:p>
            <a:pPr algn="l">
              <a:lnSpc>
                <a:spcPct val="112000"/>
              </a:lnSpc>
              <a:spcAft>
                <a:spcPts val="700"/>
              </a:spcAft>
            </a:pPr>
            <a:r>
              <a:rPr sz="1200" b="1" i="0">
                <a:solidFill>
                  <a:srgbClr val="38E0D8"/>
                </a:solidFill>
                <a:latin typeface="Arial"/>
              </a:rPr>
              <a:t>Challenge.  </a:t>
            </a:r>
            <a:r>
              <a:rPr sz="1150" b="0" i="0">
                <a:solidFill>
                  <a:srgbClr val="93A6C8"/>
                </a:solidFill>
                <a:latin typeface="Calibri"/>
              </a:rPr>
              <a:t>Find a way to catch financial crime that only becomes visible across many transactions or accounts over time. The most damaging fraud rarely shows up in a single transaction: it is spread deliberately across many small transfers and accounts to avoid detection, faster than human analysts can trace.</a:t>
            </a:r>
          </a:p>
          <a:p>
            <a:pPr algn="l">
              <a:lnSpc>
                <a:spcPct val="112000"/>
              </a:lnSpc>
              <a:spcAft>
                <a:spcPts val="700"/>
              </a:spcAft>
            </a:pPr>
            <a:r>
              <a:rPr sz="1200" b="1" i="0">
                <a:solidFill>
                  <a:srgbClr val="38E0D8"/>
                </a:solidFill>
                <a:latin typeface="Arial"/>
              </a:rPr>
              <a:t>Objective.  </a:t>
            </a:r>
            <a:r>
              <a:rPr sz="1150" b="0" i="0">
                <a:solidFill>
                  <a:srgbClr val="93A6C8"/>
                </a:solidFill>
                <a:latin typeface="Calibri"/>
              </a:rPr>
              <a:t>Think about what it would take to spot a pattern that is deliberately spread out to avoid detection, and who should act on that finding once it is flagged. The scope, method, and level of human involvement are open to the team to define.</a:t>
            </a:r>
          </a:p>
        </p:txBody>
      </p:sp>
      <p:sp>
        <p:nvSpPr>
          <p:cNvPr id="9" name="TextBox 8"/>
          <p:cNvSpPr txBox="1"/>
          <p:nvPr/>
        </p:nvSpPr>
        <p:spPr>
          <a:xfrm>
            <a:off x="566928" y="3456432"/>
            <a:ext cx="5943600" cy="274320"/>
          </a:xfrm>
          <a:prstGeom prst="rect">
            <a:avLst/>
          </a:prstGeom>
          <a:noFill/>
        </p:spPr>
        <p:txBody>
          <a:bodyPr wrap="square" lIns="0" rIns="0" tIns="0" bIns="0" anchor="t">
            <a:spAutoFit/>
          </a:bodyPr>
          <a:lstStyle/>
          <a:p>
            <a:pPr algn="l">
              <a:spcAft>
                <a:spcPts val="0"/>
              </a:spcAft>
            </a:pPr>
            <a:r>
              <a:rPr sz="1200" b="1" i="0">
                <a:solidFill>
                  <a:srgbClr val="38E0D8"/>
                </a:solidFill>
                <a:latin typeface="Arial"/>
              </a:rPr>
              <a:t>What that means in a ledger</a:t>
            </a:r>
          </a:p>
        </p:txBody>
      </p:sp>
      <p:sp>
        <p:nvSpPr>
          <p:cNvPr id="10" name="Oval 9"/>
          <p:cNvSpPr/>
          <p:nvPr/>
        </p:nvSpPr>
        <p:spPr>
          <a:xfrm>
            <a:off x="566928" y="3872483"/>
            <a:ext cx="182880" cy="182880"/>
          </a:xfrm>
          <a:prstGeom prst="ellipse">
            <a:avLst/>
          </a:prstGeom>
          <a:solidFill>
            <a:srgbClr val="FF4D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822191"/>
            <a:ext cx="5614416" cy="548640"/>
          </a:xfrm>
          <a:prstGeom prst="rect">
            <a:avLst/>
          </a:prstGeom>
          <a:noFill/>
        </p:spPr>
        <p:txBody>
          <a:bodyPr wrap="square" lIns="0" rIns="0" tIns="0" bIns="0" anchor="t">
            <a:spAutoFit/>
          </a:bodyPr>
          <a:lstStyle/>
          <a:p>
            <a:pPr algn="l">
              <a:spcAft>
                <a:spcPts val="0"/>
              </a:spcAft>
            </a:pPr>
            <a:r>
              <a:rPr sz="1200" b="1" i="0">
                <a:solidFill>
                  <a:srgbClr val="E8EEFB"/>
                </a:solidFill>
                <a:latin typeface="Arial"/>
              </a:rPr>
              <a:t>No single transfer crosses a reporting line.  </a:t>
            </a:r>
            <a:r>
              <a:rPr sz="1050" b="0" i="0">
                <a:solidFill>
                  <a:srgbClr val="93A6C8"/>
                </a:solidFill>
                <a:latin typeface="Calibri"/>
              </a:rPr>
              <a:t>A crore split into twenty tranches of Rs 9.4 lakh stays under the Rs 10,00,000 CTR threshold every time.</a:t>
            </a:r>
          </a:p>
        </p:txBody>
      </p:sp>
      <p:sp>
        <p:nvSpPr>
          <p:cNvPr id="12" name="Oval 11"/>
          <p:cNvSpPr/>
          <p:nvPr/>
        </p:nvSpPr>
        <p:spPr>
          <a:xfrm>
            <a:off x="566928" y="4475988"/>
            <a:ext cx="182880" cy="182880"/>
          </a:xfrm>
          <a:prstGeom prst="ellipse">
            <a:avLst/>
          </a:prstGeom>
          <a:solidFill>
            <a:srgbClr val="FF9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425696"/>
            <a:ext cx="5614416" cy="548640"/>
          </a:xfrm>
          <a:prstGeom prst="rect">
            <a:avLst/>
          </a:prstGeom>
          <a:noFill/>
        </p:spPr>
        <p:txBody>
          <a:bodyPr wrap="square" lIns="0" rIns="0" tIns="0" bIns="0" anchor="t">
            <a:spAutoFit/>
          </a:bodyPr>
          <a:lstStyle/>
          <a:p>
            <a:pPr algn="l">
              <a:spcAft>
                <a:spcPts val="0"/>
              </a:spcAft>
            </a:pPr>
            <a:r>
              <a:rPr sz="1200" b="1" i="0">
                <a:solidFill>
                  <a:srgbClr val="E8EEFB"/>
                </a:solidFill>
                <a:latin typeface="Arial"/>
              </a:rPr>
              <a:t>The signal is structure and timing, not amount.  </a:t>
            </a:r>
            <a:r>
              <a:rPr sz="1050" b="0" i="0">
                <a:solidFill>
                  <a:srgbClr val="93A6C8"/>
                </a:solidFill>
                <a:latin typeface="Calibri"/>
              </a:rPr>
              <a:t>Fan-out into mules, a loop back to its origin, a conduit forwarding within a day: none of these exist inside one record.</a:t>
            </a:r>
          </a:p>
        </p:txBody>
      </p:sp>
      <p:sp>
        <p:nvSpPr>
          <p:cNvPr id="14" name="Oval 13"/>
          <p:cNvSpPr/>
          <p:nvPr/>
        </p:nvSpPr>
        <p:spPr>
          <a:xfrm>
            <a:off x="566928" y="5079492"/>
            <a:ext cx="182880" cy="18288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29200"/>
            <a:ext cx="5614416" cy="548640"/>
          </a:xfrm>
          <a:prstGeom prst="rect">
            <a:avLst/>
          </a:prstGeom>
          <a:noFill/>
        </p:spPr>
        <p:txBody>
          <a:bodyPr wrap="square" lIns="0" rIns="0" tIns="0" bIns="0" anchor="t">
            <a:spAutoFit/>
          </a:bodyPr>
          <a:lstStyle/>
          <a:p>
            <a:pPr algn="l">
              <a:spcAft>
                <a:spcPts val="0"/>
              </a:spcAft>
            </a:pPr>
            <a:r>
              <a:rPr sz="1200" b="1" i="0">
                <a:solidFill>
                  <a:srgbClr val="E8EEFB"/>
                </a:solidFill>
                <a:latin typeface="Arial"/>
              </a:rPr>
              <a:t>Alert volume is already the constraint.  </a:t>
            </a:r>
            <a:r>
              <a:rPr sz="1050" b="0" i="0">
                <a:solidFill>
                  <a:srgbClr val="93A6C8"/>
                </a:solidFill>
                <a:latin typeface="Calibri"/>
              </a:rPr>
              <a:t>Large banks convert roughly 6% of AML alerts into a filed report, so raising recall by raising volume only moves the bottleneck.</a:t>
            </a:r>
          </a:p>
        </p:txBody>
      </p:sp>
      <p:sp>
        <p:nvSpPr>
          <p:cNvPr id="16" name="Oval 15"/>
          <p:cNvSpPr/>
          <p:nvPr/>
        </p:nvSpPr>
        <p:spPr>
          <a:xfrm>
            <a:off x="566928" y="5682996"/>
            <a:ext cx="182880" cy="182880"/>
          </a:xfrm>
          <a:prstGeom prst="ellipse">
            <a:avLst/>
          </a:prstGeom>
          <a:solidFill>
            <a:srgbClr val="4D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5632704"/>
            <a:ext cx="5614416" cy="548640"/>
          </a:xfrm>
          <a:prstGeom prst="rect">
            <a:avLst/>
          </a:prstGeom>
          <a:noFill/>
        </p:spPr>
        <p:txBody>
          <a:bodyPr wrap="square" lIns="0" rIns="0" tIns="0" bIns="0" anchor="t">
            <a:spAutoFit/>
          </a:bodyPr>
          <a:lstStyle/>
          <a:p>
            <a:pPr algn="l">
              <a:spcAft>
                <a:spcPts val="0"/>
              </a:spcAft>
            </a:pPr>
            <a:r>
              <a:rPr sz="1200" b="1" i="0">
                <a:solidFill>
                  <a:srgbClr val="E8EEFB"/>
                </a:solidFill>
                <a:latin typeface="Arial"/>
              </a:rPr>
              <a:t>Published thresholds can be worked around.  </a:t>
            </a:r>
            <a:r>
              <a:rPr sz="1050" b="0" i="0">
                <a:solidFill>
                  <a:srgbClr val="93A6C8"/>
                </a:solidFill>
                <a:latin typeface="Calibri"/>
              </a:rPr>
              <a:t>The CTR figure, the RTGS floor and the channel caps are public, and a detector built only from them can be evaded by design.</a:t>
            </a:r>
          </a:p>
        </p:txBody>
      </p:sp>
      <p:sp>
        <p:nvSpPr>
          <p:cNvPr id="18" name="Rounded Rectangle 17"/>
          <p:cNvSpPr/>
          <p:nvPr/>
        </p:nvSpPr>
        <p:spPr>
          <a:xfrm>
            <a:off x="6903720" y="3456432"/>
            <a:ext cx="4721047" cy="2761488"/>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32904" y="3657600"/>
            <a:ext cx="4062679" cy="310896"/>
          </a:xfrm>
          <a:prstGeom prst="rect">
            <a:avLst/>
          </a:prstGeom>
          <a:noFill/>
        </p:spPr>
        <p:txBody>
          <a:bodyPr wrap="square" lIns="0" rIns="0" tIns="0" bIns="0" anchor="t">
            <a:spAutoFit/>
          </a:bodyPr>
          <a:lstStyle/>
          <a:p>
            <a:pPr algn="l">
              <a:spcAft>
                <a:spcPts val="0"/>
              </a:spcAft>
            </a:pPr>
            <a:r>
              <a:rPr sz="1200" b="1" i="0">
                <a:solidFill>
                  <a:srgbClr val="38E0D8"/>
                </a:solidFill>
                <a:latin typeface="Arial"/>
              </a:rPr>
              <a:t>The bundled 30-day ledger</a:t>
            </a:r>
          </a:p>
        </p:txBody>
      </p:sp>
      <p:sp>
        <p:nvSpPr>
          <p:cNvPr id="20" name="TextBox 19"/>
          <p:cNvSpPr txBox="1"/>
          <p:nvPr/>
        </p:nvSpPr>
        <p:spPr>
          <a:xfrm>
            <a:off x="7232904" y="4114800"/>
            <a:ext cx="2468880" cy="365760"/>
          </a:xfrm>
          <a:prstGeom prst="rect">
            <a:avLst/>
          </a:prstGeom>
          <a:noFill/>
        </p:spPr>
        <p:txBody>
          <a:bodyPr wrap="square" lIns="0" rIns="0" tIns="0" bIns="0" anchor="t">
            <a:spAutoFit/>
          </a:bodyPr>
          <a:lstStyle/>
          <a:p>
            <a:pPr algn="l">
              <a:lnSpc>
                <a:spcPct val="105000"/>
              </a:lnSpc>
              <a:spcAft>
                <a:spcPts val="0"/>
              </a:spcAft>
            </a:pPr>
            <a:r>
              <a:rPr sz="1050" b="0" i="0">
                <a:solidFill>
                  <a:srgbClr val="93A6C8"/>
                </a:solidFill>
                <a:latin typeface="Calibri"/>
              </a:rPr>
              <a:t>Accounts</a:t>
            </a:r>
          </a:p>
        </p:txBody>
      </p:sp>
      <p:sp>
        <p:nvSpPr>
          <p:cNvPr id="21" name="TextBox 20"/>
          <p:cNvSpPr txBox="1"/>
          <p:nvPr/>
        </p:nvSpPr>
        <p:spPr>
          <a:xfrm>
            <a:off x="9738360" y="4114800"/>
            <a:ext cx="1557223" cy="365760"/>
          </a:xfrm>
          <a:prstGeom prst="rect">
            <a:avLst/>
          </a:prstGeom>
          <a:noFill/>
        </p:spPr>
        <p:txBody>
          <a:bodyPr wrap="square" lIns="0" rIns="0" tIns="0" bIns="0" anchor="t">
            <a:spAutoFit/>
          </a:bodyPr>
          <a:lstStyle/>
          <a:p>
            <a:pPr algn="r">
              <a:spcAft>
                <a:spcPts val="0"/>
              </a:spcAft>
            </a:pPr>
            <a:r>
              <a:rPr sz="1150" b="1" i="0">
                <a:solidFill>
                  <a:srgbClr val="E8EEFB"/>
                </a:solidFill>
                <a:latin typeface="Arial"/>
              </a:rPr>
              <a:t>187</a:t>
            </a:r>
          </a:p>
        </p:txBody>
      </p:sp>
      <p:sp>
        <p:nvSpPr>
          <p:cNvPr id="22" name="TextBox 21"/>
          <p:cNvSpPr txBox="1"/>
          <p:nvPr/>
        </p:nvSpPr>
        <p:spPr>
          <a:xfrm>
            <a:off x="7232904" y="4462272"/>
            <a:ext cx="2468880" cy="365760"/>
          </a:xfrm>
          <a:prstGeom prst="rect">
            <a:avLst/>
          </a:prstGeom>
          <a:noFill/>
        </p:spPr>
        <p:txBody>
          <a:bodyPr wrap="square" lIns="0" rIns="0" tIns="0" bIns="0" anchor="t">
            <a:spAutoFit/>
          </a:bodyPr>
          <a:lstStyle/>
          <a:p>
            <a:pPr algn="l">
              <a:lnSpc>
                <a:spcPct val="105000"/>
              </a:lnSpc>
              <a:spcAft>
                <a:spcPts val="0"/>
              </a:spcAft>
            </a:pPr>
            <a:r>
              <a:rPr sz="1050" b="0" i="0">
                <a:solidFill>
                  <a:srgbClr val="93A6C8"/>
                </a:solidFill>
                <a:latin typeface="Calibri"/>
              </a:rPr>
              <a:t>Transactions</a:t>
            </a:r>
          </a:p>
        </p:txBody>
      </p:sp>
      <p:sp>
        <p:nvSpPr>
          <p:cNvPr id="23" name="TextBox 22"/>
          <p:cNvSpPr txBox="1"/>
          <p:nvPr/>
        </p:nvSpPr>
        <p:spPr>
          <a:xfrm>
            <a:off x="9738360" y="4462272"/>
            <a:ext cx="1557223" cy="365760"/>
          </a:xfrm>
          <a:prstGeom prst="rect">
            <a:avLst/>
          </a:prstGeom>
          <a:noFill/>
        </p:spPr>
        <p:txBody>
          <a:bodyPr wrap="square" lIns="0" rIns="0" tIns="0" bIns="0" anchor="t">
            <a:spAutoFit/>
          </a:bodyPr>
          <a:lstStyle/>
          <a:p>
            <a:pPr algn="r">
              <a:spcAft>
                <a:spcPts val="0"/>
              </a:spcAft>
            </a:pPr>
            <a:r>
              <a:rPr sz="1150" b="1" i="0">
                <a:solidFill>
                  <a:srgbClr val="E8EEFB"/>
                </a:solidFill>
                <a:latin typeface="Arial"/>
              </a:rPr>
              <a:t>301 over 30 days</a:t>
            </a:r>
          </a:p>
        </p:txBody>
      </p:sp>
      <p:sp>
        <p:nvSpPr>
          <p:cNvPr id="24" name="TextBox 23"/>
          <p:cNvSpPr txBox="1"/>
          <p:nvPr/>
        </p:nvSpPr>
        <p:spPr>
          <a:xfrm>
            <a:off x="7232904" y="4809744"/>
            <a:ext cx="2468880" cy="365760"/>
          </a:xfrm>
          <a:prstGeom prst="rect">
            <a:avLst/>
          </a:prstGeom>
          <a:noFill/>
        </p:spPr>
        <p:txBody>
          <a:bodyPr wrap="square" lIns="0" rIns="0" tIns="0" bIns="0" anchor="t">
            <a:spAutoFit/>
          </a:bodyPr>
          <a:lstStyle/>
          <a:p>
            <a:pPr algn="l">
              <a:lnSpc>
                <a:spcPct val="105000"/>
              </a:lnSpc>
              <a:spcAft>
                <a:spcPts val="0"/>
              </a:spcAft>
            </a:pPr>
            <a:r>
              <a:rPr sz="1050" b="0" i="0">
                <a:solidFill>
                  <a:srgbClr val="93A6C8"/>
                </a:solidFill>
                <a:latin typeface="Calibri"/>
              </a:rPr>
              <a:t>Laundering rings present</a:t>
            </a:r>
          </a:p>
        </p:txBody>
      </p:sp>
      <p:sp>
        <p:nvSpPr>
          <p:cNvPr id="25" name="TextBox 24"/>
          <p:cNvSpPr txBox="1"/>
          <p:nvPr/>
        </p:nvSpPr>
        <p:spPr>
          <a:xfrm>
            <a:off x="9738360" y="4809744"/>
            <a:ext cx="1557223" cy="365760"/>
          </a:xfrm>
          <a:prstGeom prst="rect">
            <a:avLst/>
          </a:prstGeom>
          <a:noFill/>
        </p:spPr>
        <p:txBody>
          <a:bodyPr wrap="square" lIns="0" rIns="0" tIns="0" bIns="0" anchor="t">
            <a:spAutoFit/>
          </a:bodyPr>
          <a:lstStyle/>
          <a:p>
            <a:pPr algn="r">
              <a:spcAft>
                <a:spcPts val="0"/>
              </a:spcAft>
            </a:pPr>
            <a:r>
              <a:rPr sz="1150" b="1" i="0">
                <a:solidFill>
                  <a:srgbClr val="E8EEFB"/>
                </a:solidFill>
                <a:latin typeface="Arial"/>
              </a:rPr>
              <a:t>9</a:t>
            </a:r>
          </a:p>
        </p:txBody>
      </p:sp>
      <p:sp>
        <p:nvSpPr>
          <p:cNvPr id="26" name="TextBox 25"/>
          <p:cNvSpPr txBox="1"/>
          <p:nvPr/>
        </p:nvSpPr>
        <p:spPr>
          <a:xfrm>
            <a:off x="7232904" y="5157216"/>
            <a:ext cx="2468880" cy="365760"/>
          </a:xfrm>
          <a:prstGeom prst="rect">
            <a:avLst/>
          </a:prstGeom>
          <a:noFill/>
        </p:spPr>
        <p:txBody>
          <a:bodyPr wrap="square" lIns="0" rIns="0" tIns="0" bIns="0" anchor="t">
            <a:spAutoFit/>
          </a:bodyPr>
          <a:lstStyle/>
          <a:p>
            <a:pPr algn="l">
              <a:lnSpc>
                <a:spcPct val="105000"/>
              </a:lnSpc>
              <a:spcAft>
                <a:spcPts val="0"/>
              </a:spcAft>
            </a:pPr>
            <a:r>
              <a:rPr sz="1050" b="0" i="0">
                <a:solidFill>
                  <a:srgbClr val="93A6C8"/>
                </a:solidFill>
                <a:latin typeface="Calibri"/>
              </a:rPr>
              <a:t>Accounts involved in them</a:t>
            </a:r>
          </a:p>
        </p:txBody>
      </p:sp>
      <p:sp>
        <p:nvSpPr>
          <p:cNvPr id="27" name="TextBox 26"/>
          <p:cNvSpPr txBox="1"/>
          <p:nvPr/>
        </p:nvSpPr>
        <p:spPr>
          <a:xfrm>
            <a:off x="9738360" y="5157216"/>
            <a:ext cx="1557223" cy="365760"/>
          </a:xfrm>
          <a:prstGeom prst="rect">
            <a:avLst/>
          </a:prstGeom>
          <a:noFill/>
        </p:spPr>
        <p:txBody>
          <a:bodyPr wrap="square" lIns="0" rIns="0" tIns="0" bIns="0" anchor="t">
            <a:spAutoFit/>
          </a:bodyPr>
          <a:lstStyle/>
          <a:p>
            <a:pPr algn="r">
              <a:spcAft>
                <a:spcPts val="0"/>
              </a:spcAft>
            </a:pPr>
            <a:r>
              <a:rPr sz="1150" b="1" i="0">
                <a:solidFill>
                  <a:srgbClr val="E8EEFB"/>
                </a:solidFill>
                <a:latin typeface="Arial"/>
              </a:rPr>
              <a:t>35</a:t>
            </a:r>
          </a:p>
        </p:txBody>
      </p:sp>
      <p:sp>
        <p:nvSpPr>
          <p:cNvPr id="28" name="TextBox 27"/>
          <p:cNvSpPr txBox="1"/>
          <p:nvPr/>
        </p:nvSpPr>
        <p:spPr>
          <a:xfrm>
            <a:off x="7232904" y="5504688"/>
            <a:ext cx="2468880" cy="365760"/>
          </a:xfrm>
          <a:prstGeom prst="rect">
            <a:avLst/>
          </a:prstGeom>
          <a:noFill/>
        </p:spPr>
        <p:txBody>
          <a:bodyPr wrap="square" lIns="0" rIns="0" tIns="0" bIns="0" anchor="t">
            <a:spAutoFit/>
          </a:bodyPr>
          <a:lstStyle/>
          <a:p>
            <a:pPr algn="l">
              <a:lnSpc>
                <a:spcPct val="105000"/>
              </a:lnSpc>
              <a:spcAft>
                <a:spcPts val="0"/>
              </a:spcAft>
            </a:pPr>
            <a:r>
              <a:rPr sz="1050" b="0" i="0">
                <a:solidFill>
                  <a:srgbClr val="93A6C8"/>
                </a:solidFill>
                <a:latin typeface="Calibri"/>
              </a:rPr>
              <a:t>Value moved through them</a:t>
            </a:r>
          </a:p>
        </p:txBody>
      </p:sp>
      <p:sp>
        <p:nvSpPr>
          <p:cNvPr id="29" name="TextBox 28"/>
          <p:cNvSpPr txBox="1"/>
          <p:nvPr/>
        </p:nvSpPr>
        <p:spPr>
          <a:xfrm>
            <a:off x="9738360" y="5504688"/>
            <a:ext cx="1557223" cy="365760"/>
          </a:xfrm>
          <a:prstGeom prst="rect">
            <a:avLst/>
          </a:prstGeom>
          <a:noFill/>
        </p:spPr>
        <p:txBody>
          <a:bodyPr wrap="square" lIns="0" rIns="0" tIns="0" bIns="0" anchor="t">
            <a:spAutoFit/>
          </a:bodyPr>
          <a:lstStyle/>
          <a:p>
            <a:pPr algn="r">
              <a:spcAft>
                <a:spcPts val="0"/>
              </a:spcAft>
            </a:pPr>
            <a:r>
              <a:rPr sz="1150" b="1" i="0">
                <a:solidFill>
                  <a:srgbClr val="E8EEFB"/>
                </a:solidFill>
                <a:latin typeface="Arial"/>
              </a:rPr>
              <a:t>Rs 5.5 Cr</a:t>
            </a:r>
          </a:p>
        </p:txBody>
      </p:sp>
      <p:sp>
        <p:nvSpPr>
          <p:cNvPr id="30" name="TextBox 29"/>
          <p:cNvSpPr txBox="1"/>
          <p:nvPr/>
        </p:nvSpPr>
        <p:spPr>
          <a:xfrm>
            <a:off x="7232904" y="5852159"/>
            <a:ext cx="2468880" cy="365760"/>
          </a:xfrm>
          <a:prstGeom prst="rect">
            <a:avLst/>
          </a:prstGeom>
          <a:noFill/>
        </p:spPr>
        <p:txBody>
          <a:bodyPr wrap="square" lIns="0" rIns="0" tIns="0" bIns="0" anchor="t">
            <a:spAutoFit/>
          </a:bodyPr>
          <a:lstStyle/>
          <a:p>
            <a:pPr algn="l">
              <a:lnSpc>
                <a:spcPct val="105000"/>
              </a:lnSpc>
              <a:spcAft>
                <a:spcPts val="0"/>
              </a:spcAft>
            </a:pPr>
            <a:r>
              <a:rPr sz="1050" b="0" i="0">
                <a:solidFill>
                  <a:srgbClr val="93A6C8"/>
                </a:solidFill>
                <a:latin typeface="Calibri"/>
              </a:rPr>
              <a:t>Share of flow that is illicit</a:t>
            </a:r>
          </a:p>
        </p:txBody>
      </p:sp>
      <p:sp>
        <p:nvSpPr>
          <p:cNvPr id="31" name="TextBox 30"/>
          <p:cNvSpPr txBox="1"/>
          <p:nvPr/>
        </p:nvSpPr>
        <p:spPr>
          <a:xfrm>
            <a:off x="9738360" y="5852159"/>
            <a:ext cx="1557223" cy="365760"/>
          </a:xfrm>
          <a:prstGeom prst="rect">
            <a:avLst/>
          </a:prstGeom>
          <a:noFill/>
        </p:spPr>
        <p:txBody>
          <a:bodyPr wrap="square" lIns="0" rIns="0" tIns="0" bIns="0" anchor="t">
            <a:spAutoFit/>
          </a:bodyPr>
          <a:lstStyle/>
          <a:p>
            <a:pPr algn="r">
              <a:spcAft>
                <a:spcPts val="0"/>
              </a:spcAft>
            </a:pPr>
            <a:r>
              <a:rPr sz="1150" b="1" i="0">
                <a:solidFill>
                  <a:srgbClr val="E8EEFB"/>
                </a:solidFill>
                <a:latin typeface="Arial"/>
              </a:rPr>
              <a:t>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C18"/>
        </a:solidFill>
        <a:effectLst/>
      </p:bgPr>
    </p:bg>
    <p:spTree>
      <p:nvGrpSpPr>
        <p:cNvPr id="1" name=""/>
        <p:cNvGrpSpPr/>
        <p:nvPr/>
      </p:nvGrpSpPr>
      <p:grpSpPr/>
      <p:sp>
        <p:nvSpPr>
          <p:cNvPr id="2" name="Oval 1"/>
          <p:cNvSpPr/>
          <p:nvPr/>
        </p:nvSpPr>
        <p:spPr>
          <a:xfrm>
            <a:off x="11240719" y="548640"/>
            <a:ext cx="384048" cy="384048"/>
          </a:xfrm>
          <a:prstGeom prst="ellipse">
            <a:avLst/>
          </a:prstGeom>
          <a:solidFill>
            <a:srgbClr val="16223C"/>
          </a:solidFill>
          <a:ln w="15875">
            <a:solidFill>
              <a:srgbClr val="38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0719" y="617219"/>
            <a:ext cx="384048" cy="274320"/>
          </a:xfrm>
          <a:prstGeom prst="rect">
            <a:avLst/>
          </a:prstGeom>
          <a:noFill/>
        </p:spPr>
        <p:txBody>
          <a:bodyPr wrap="square" lIns="0" rIns="0" tIns="0" bIns="0" anchor="t">
            <a:spAutoFit/>
          </a:bodyPr>
          <a:lstStyle/>
          <a:p>
            <a:pPr algn="ctr">
              <a:spcAft>
                <a:spcPts val="600"/>
              </a:spcAft>
            </a:pPr>
            <a:r>
              <a:rPr sz="1250" b="1" i="0">
                <a:solidFill>
                  <a:srgbClr val="38E0D8"/>
                </a:solidFill>
                <a:latin typeface="Arial"/>
              </a:rPr>
              <a:t>2</a:t>
            </a:r>
          </a:p>
        </p:txBody>
      </p:sp>
      <p:sp>
        <p:nvSpPr>
          <p:cNvPr id="4" name="TextBox 3"/>
          <p:cNvSpPr txBox="1"/>
          <p:nvPr/>
        </p:nvSpPr>
        <p:spPr>
          <a:xfrm>
            <a:off x="566928" y="502920"/>
            <a:ext cx="10417759" cy="566928"/>
          </a:xfrm>
          <a:prstGeom prst="rect">
            <a:avLst/>
          </a:prstGeom>
          <a:noFill/>
        </p:spPr>
        <p:txBody>
          <a:bodyPr wrap="square" lIns="0" rIns="0" tIns="0" bIns="0" anchor="t">
            <a:spAutoFit/>
          </a:bodyPr>
          <a:lstStyle/>
          <a:p>
            <a:pPr algn="l">
              <a:spcAft>
                <a:spcPts val="600"/>
              </a:spcAft>
            </a:pPr>
            <a:r>
              <a:rPr sz="3200" b="1" i="0">
                <a:solidFill>
                  <a:srgbClr val="E8EEFB"/>
                </a:solidFill>
                <a:latin typeface="Arial"/>
              </a:rPr>
              <a:t>Proposed solution and key features</a:t>
            </a:r>
          </a:p>
        </p:txBody>
      </p:sp>
      <p:sp>
        <p:nvSpPr>
          <p:cNvPr id="5" name="TextBox 4"/>
          <p:cNvSpPr txBox="1"/>
          <p:nvPr/>
        </p:nvSpPr>
        <p:spPr>
          <a:xfrm>
            <a:off x="566928" y="1078992"/>
            <a:ext cx="10417759" cy="384048"/>
          </a:xfrm>
          <a:prstGeom prst="rect">
            <a:avLst/>
          </a:prstGeom>
          <a:noFill/>
        </p:spPr>
        <p:txBody>
          <a:bodyPr wrap="square" lIns="0" rIns="0" tIns="0" bIns="0" anchor="t">
            <a:spAutoFit/>
          </a:bodyPr>
          <a:lstStyle/>
          <a:p>
            <a:pPr algn="l">
              <a:spcAft>
                <a:spcPts val="0"/>
              </a:spcAft>
            </a:pPr>
            <a:r>
              <a:rPr sz="1450" b="0" i="0">
                <a:solidFill>
                  <a:srgbClr val="93A6C8"/>
                </a:solidFill>
                <a:latin typeface="Calibri"/>
              </a:rPr>
              <a:t>A transaction ledger is turned into a money-flow graph, scored by nine layers, and returned as a triaged case queue</a:t>
            </a:r>
          </a:p>
        </p:txBody>
      </p:sp>
      <p:sp>
        <p:nvSpPr>
          <p:cNvPr id="6" name="Rounded Rectangle 5"/>
          <p:cNvSpPr/>
          <p:nvPr/>
        </p:nvSpPr>
        <p:spPr>
          <a:xfrm>
            <a:off x="566928" y="1627632"/>
            <a:ext cx="967740" cy="768096"/>
          </a:xfrm>
          <a:prstGeom prst="roundRect">
            <a:avLst>
              <a:gd name="adj" fmla="val 5500"/>
            </a:avLst>
          </a:prstGeom>
          <a:solidFill>
            <a:srgbClr val="16223C"/>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783080"/>
            <a:ext cx="876300" cy="274320"/>
          </a:xfrm>
          <a:prstGeom prst="rect">
            <a:avLst/>
          </a:prstGeom>
          <a:noFill/>
        </p:spPr>
        <p:txBody>
          <a:bodyPr wrap="square" lIns="0" rIns="0" tIns="0" bIns="0" anchor="t">
            <a:spAutoFit/>
          </a:bodyPr>
          <a:lstStyle/>
          <a:p>
            <a:pPr algn="ctr">
              <a:spcAft>
                <a:spcPts val="0"/>
              </a:spcAft>
            </a:pPr>
            <a:r>
              <a:rPr sz="1150" b="1" i="0">
                <a:solidFill>
                  <a:srgbClr val="E8EEFB"/>
                </a:solidFill>
                <a:latin typeface="Arial"/>
              </a:rPr>
              <a:t>Ingest</a:t>
            </a:r>
          </a:p>
        </p:txBody>
      </p:sp>
      <p:sp>
        <p:nvSpPr>
          <p:cNvPr id="8" name="TextBox 7"/>
          <p:cNvSpPr txBox="1"/>
          <p:nvPr/>
        </p:nvSpPr>
        <p:spPr>
          <a:xfrm>
            <a:off x="603504" y="2057400"/>
            <a:ext cx="894588" cy="274320"/>
          </a:xfrm>
          <a:prstGeom prst="rect">
            <a:avLst/>
          </a:prstGeom>
          <a:noFill/>
        </p:spPr>
        <p:txBody>
          <a:bodyPr wrap="square" lIns="0" rIns="0" tIns="0" bIns="0" anchor="t">
            <a:spAutoFit/>
          </a:bodyPr>
          <a:lstStyle/>
          <a:p>
            <a:pPr algn="ctr">
              <a:spcAft>
                <a:spcPts val="0"/>
              </a:spcAft>
            </a:pPr>
            <a:r>
              <a:rPr sz="800" b="0" i="0">
                <a:solidFill>
                  <a:srgbClr val="93A6C8"/>
                </a:solidFill>
                <a:latin typeface="Calibri"/>
              </a:rPr>
              <a:t>any CSV schema</a:t>
            </a:r>
          </a:p>
        </p:txBody>
      </p:sp>
      <p:sp>
        <p:nvSpPr>
          <p:cNvPr id="9" name="Rounded Rectangle 8"/>
          <p:cNvSpPr/>
          <p:nvPr/>
        </p:nvSpPr>
        <p:spPr>
          <a:xfrm>
            <a:off x="1662684" y="1627632"/>
            <a:ext cx="967740" cy="768096"/>
          </a:xfrm>
          <a:prstGeom prst="roundRect">
            <a:avLst>
              <a:gd name="adj" fmla="val 5500"/>
            </a:avLst>
          </a:prstGeom>
          <a:solidFill>
            <a:srgbClr val="16223C"/>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08404" y="1783080"/>
            <a:ext cx="876300" cy="274320"/>
          </a:xfrm>
          <a:prstGeom prst="rect">
            <a:avLst/>
          </a:prstGeom>
          <a:noFill/>
        </p:spPr>
        <p:txBody>
          <a:bodyPr wrap="square" lIns="0" rIns="0" tIns="0" bIns="0" anchor="t">
            <a:spAutoFit/>
          </a:bodyPr>
          <a:lstStyle/>
          <a:p>
            <a:pPr algn="ctr">
              <a:spcAft>
                <a:spcPts val="0"/>
              </a:spcAft>
            </a:pPr>
            <a:r>
              <a:rPr sz="1150" b="1" i="0">
                <a:solidFill>
                  <a:srgbClr val="E8EEFB"/>
                </a:solidFill>
                <a:latin typeface="Arial"/>
              </a:rPr>
              <a:t>Graph</a:t>
            </a:r>
          </a:p>
        </p:txBody>
      </p:sp>
      <p:sp>
        <p:nvSpPr>
          <p:cNvPr id="11" name="TextBox 10"/>
          <p:cNvSpPr txBox="1"/>
          <p:nvPr/>
        </p:nvSpPr>
        <p:spPr>
          <a:xfrm>
            <a:off x="1699260" y="2057400"/>
            <a:ext cx="894588" cy="274320"/>
          </a:xfrm>
          <a:prstGeom prst="rect">
            <a:avLst/>
          </a:prstGeom>
          <a:noFill/>
        </p:spPr>
        <p:txBody>
          <a:bodyPr wrap="square" lIns="0" rIns="0" tIns="0" bIns="0" anchor="t">
            <a:spAutoFit/>
          </a:bodyPr>
          <a:lstStyle/>
          <a:p>
            <a:pPr algn="ctr">
              <a:spcAft>
                <a:spcPts val="0"/>
              </a:spcAft>
            </a:pPr>
            <a:r>
              <a:rPr sz="800" b="0" i="0">
                <a:solidFill>
                  <a:srgbClr val="93A6C8"/>
                </a:solidFill>
                <a:latin typeface="Calibri"/>
              </a:rPr>
              <a:t>accounts and flows</a:t>
            </a:r>
          </a:p>
        </p:txBody>
      </p:sp>
      <p:sp>
        <p:nvSpPr>
          <p:cNvPr id="12" name="Rounded Rectangle 11"/>
          <p:cNvSpPr/>
          <p:nvPr/>
        </p:nvSpPr>
        <p:spPr>
          <a:xfrm>
            <a:off x="2758440" y="1627632"/>
            <a:ext cx="967740" cy="768096"/>
          </a:xfrm>
          <a:prstGeom prst="roundRect">
            <a:avLst>
              <a:gd name="adj" fmla="val 5500"/>
            </a:avLst>
          </a:prstGeom>
          <a:solidFill>
            <a:srgbClr val="16223C"/>
          </a:solidFill>
          <a:ln w="12700">
            <a:solidFill>
              <a:srgbClr val="38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04160" y="1783080"/>
            <a:ext cx="876300" cy="274320"/>
          </a:xfrm>
          <a:prstGeom prst="rect">
            <a:avLst/>
          </a:prstGeom>
          <a:noFill/>
        </p:spPr>
        <p:txBody>
          <a:bodyPr wrap="square" lIns="0" rIns="0" tIns="0" bIns="0" anchor="t">
            <a:spAutoFit/>
          </a:bodyPr>
          <a:lstStyle/>
          <a:p>
            <a:pPr algn="ctr">
              <a:spcAft>
                <a:spcPts val="0"/>
              </a:spcAft>
            </a:pPr>
            <a:r>
              <a:rPr sz="1150" b="1" i="0">
                <a:solidFill>
                  <a:srgbClr val="E8EEFB"/>
                </a:solidFill>
                <a:latin typeface="Arial"/>
              </a:rPr>
              <a:t>Nine layers</a:t>
            </a:r>
          </a:p>
        </p:txBody>
      </p:sp>
      <p:sp>
        <p:nvSpPr>
          <p:cNvPr id="14" name="TextBox 13"/>
          <p:cNvSpPr txBox="1"/>
          <p:nvPr/>
        </p:nvSpPr>
        <p:spPr>
          <a:xfrm>
            <a:off x="2795016" y="2057400"/>
            <a:ext cx="894588" cy="274320"/>
          </a:xfrm>
          <a:prstGeom prst="rect">
            <a:avLst/>
          </a:prstGeom>
          <a:noFill/>
        </p:spPr>
        <p:txBody>
          <a:bodyPr wrap="square" lIns="0" rIns="0" tIns="0" bIns="0" anchor="t">
            <a:spAutoFit/>
          </a:bodyPr>
          <a:lstStyle/>
          <a:p>
            <a:pPr algn="ctr">
              <a:spcAft>
                <a:spcPts val="0"/>
              </a:spcAft>
            </a:pPr>
            <a:r>
              <a:rPr sz="800" b="0" i="0">
                <a:solidFill>
                  <a:srgbClr val="93A6C8"/>
                </a:solidFill>
                <a:latin typeface="Calibri"/>
              </a:rPr>
              <a:t>rule, graph, ML, adaptive</a:t>
            </a:r>
          </a:p>
        </p:txBody>
      </p:sp>
      <p:sp>
        <p:nvSpPr>
          <p:cNvPr id="15" name="Rounded Rectangle 14"/>
          <p:cNvSpPr/>
          <p:nvPr/>
        </p:nvSpPr>
        <p:spPr>
          <a:xfrm>
            <a:off x="3854196" y="1627632"/>
            <a:ext cx="967740" cy="768096"/>
          </a:xfrm>
          <a:prstGeom prst="roundRect">
            <a:avLst>
              <a:gd name="adj" fmla="val 5500"/>
            </a:avLst>
          </a:prstGeom>
          <a:solidFill>
            <a:srgbClr val="16223C"/>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99915" y="1783080"/>
            <a:ext cx="876300" cy="274320"/>
          </a:xfrm>
          <a:prstGeom prst="rect">
            <a:avLst/>
          </a:prstGeom>
          <a:noFill/>
        </p:spPr>
        <p:txBody>
          <a:bodyPr wrap="square" lIns="0" rIns="0" tIns="0" bIns="0" anchor="t">
            <a:spAutoFit/>
          </a:bodyPr>
          <a:lstStyle/>
          <a:p>
            <a:pPr algn="ctr">
              <a:spcAft>
                <a:spcPts val="0"/>
              </a:spcAft>
            </a:pPr>
            <a:r>
              <a:rPr sz="1150" b="1" i="0">
                <a:solidFill>
                  <a:srgbClr val="E8EEFB"/>
                </a:solidFill>
                <a:latin typeface="Arial"/>
              </a:rPr>
              <a:t>Rings</a:t>
            </a:r>
          </a:p>
        </p:txBody>
      </p:sp>
      <p:sp>
        <p:nvSpPr>
          <p:cNvPr id="17" name="TextBox 16"/>
          <p:cNvSpPr txBox="1"/>
          <p:nvPr/>
        </p:nvSpPr>
        <p:spPr>
          <a:xfrm>
            <a:off x="3890772" y="2057400"/>
            <a:ext cx="894588" cy="274320"/>
          </a:xfrm>
          <a:prstGeom prst="rect">
            <a:avLst/>
          </a:prstGeom>
          <a:noFill/>
        </p:spPr>
        <p:txBody>
          <a:bodyPr wrap="square" lIns="0" rIns="0" tIns="0" bIns="0" anchor="t">
            <a:spAutoFit/>
          </a:bodyPr>
          <a:lstStyle/>
          <a:p>
            <a:pPr algn="ctr">
              <a:spcAft>
                <a:spcPts val="0"/>
              </a:spcAft>
            </a:pPr>
            <a:r>
              <a:rPr sz="800" b="0" i="0">
                <a:solidFill>
                  <a:srgbClr val="93A6C8"/>
                </a:solidFill>
                <a:latin typeface="Calibri"/>
              </a:rPr>
              <a:t>who acts together</a:t>
            </a:r>
          </a:p>
        </p:txBody>
      </p:sp>
      <p:sp>
        <p:nvSpPr>
          <p:cNvPr id="18" name="Rounded Rectangle 17"/>
          <p:cNvSpPr/>
          <p:nvPr/>
        </p:nvSpPr>
        <p:spPr>
          <a:xfrm>
            <a:off x="4949952" y="1627632"/>
            <a:ext cx="967740" cy="768096"/>
          </a:xfrm>
          <a:prstGeom prst="roundRect">
            <a:avLst>
              <a:gd name="adj" fmla="val 5500"/>
            </a:avLst>
          </a:prstGeom>
          <a:solidFill>
            <a:srgbClr val="16223C"/>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95672" y="1783080"/>
            <a:ext cx="876300" cy="274320"/>
          </a:xfrm>
          <a:prstGeom prst="rect">
            <a:avLst/>
          </a:prstGeom>
          <a:noFill/>
        </p:spPr>
        <p:txBody>
          <a:bodyPr wrap="square" lIns="0" rIns="0" tIns="0" bIns="0" anchor="t">
            <a:spAutoFit/>
          </a:bodyPr>
          <a:lstStyle/>
          <a:p>
            <a:pPr algn="ctr">
              <a:spcAft>
                <a:spcPts val="0"/>
              </a:spcAft>
            </a:pPr>
            <a:r>
              <a:rPr sz="1150" b="1" i="0">
                <a:solidFill>
                  <a:srgbClr val="E8EEFB"/>
                </a:solidFill>
                <a:latin typeface="Arial"/>
              </a:rPr>
              <a:t>Triage</a:t>
            </a:r>
          </a:p>
        </p:txBody>
      </p:sp>
      <p:sp>
        <p:nvSpPr>
          <p:cNvPr id="20" name="TextBox 19"/>
          <p:cNvSpPr txBox="1"/>
          <p:nvPr/>
        </p:nvSpPr>
        <p:spPr>
          <a:xfrm>
            <a:off x="4986528" y="2057400"/>
            <a:ext cx="894588" cy="274320"/>
          </a:xfrm>
          <a:prstGeom prst="rect">
            <a:avLst/>
          </a:prstGeom>
          <a:noFill/>
        </p:spPr>
        <p:txBody>
          <a:bodyPr wrap="square" lIns="0" rIns="0" tIns="0" bIns="0" anchor="t">
            <a:spAutoFit/>
          </a:bodyPr>
          <a:lstStyle/>
          <a:p>
            <a:pPr algn="ctr">
              <a:spcAft>
                <a:spcPts val="0"/>
              </a:spcAft>
            </a:pPr>
            <a:r>
              <a:rPr sz="800" b="0" i="0">
                <a:solidFill>
                  <a:srgbClr val="93A6C8"/>
                </a:solidFill>
                <a:latin typeface="Calibri"/>
              </a:rPr>
              <a:t>four tiers by score</a:t>
            </a:r>
          </a:p>
        </p:txBody>
      </p:sp>
      <p:sp>
        <p:nvSpPr>
          <p:cNvPr id="21" name="Rounded Rectangle 20"/>
          <p:cNvSpPr/>
          <p:nvPr/>
        </p:nvSpPr>
        <p:spPr>
          <a:xfrm>
            <a:off x="6045708" y="1627632"/>
            <a:ext cx="967740" cy="768096"/>
          </a:xfrm>
          <a:prstGeom prst="roundRect">
            <a:avLst>
              <a:gd name="adj" fmla="val 5500"/>
            </a:avLst>
          </a:prstGeom>
          <a:solidFill>
            <a:srgbClr val="16223C"/>
          </a:solidFill>
          <a:ln w="12700">
            <a:solidFill>
              <a:srgbClr val="38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1428" y="1783080"/>
            <a:ext cx="876300" cy="274320"/>
          </a:xfrm>
          <a:prstGeom prst="rect">
            <a:avLst/>
          </a:prstGeom>
          <a:noFill/>
        </p:spPr>
        <p:txBody>
          <a:bodyPr wrap="square" lIns="0" rIns="0" tIns="0" bIns="0" anchor="t">
            <a:spAutoFit/>
          </a:bodyPr>
          <a:lstStyle/>
          <a:p>
            <a:pPr algn="ctr">
              <a:spcAft>
                <a:spcPts val="0"/>
              </a:spcAft>
            </a:pPr>
            <a:r>
              <a:rPr sz="1150" b="1" i="0">
                <a:solidFill>
                  <a:srgbClr val="E8EEFB"/>
                </a:solidFill>
                <a:latin typeface="Arial"/>
              </a:rPr>
              <a:t>STR</a:t>
            </a:r>
          </a:p>
        </p:txBody>
      </p:sp>
      <p:sp>
        <p:nvSpPr>
          <p:cNvPr id="23" name="TextBox 22"/>
          <p:cNvSpPr txBox="1"/>
          <p:nvPr/>
        </p:nvSpPr>
        <p:spPr>
          <a:xfrm>
            <a:off x="6082284" y="2057400"/>
            <a:ext cx="894588" cy="274320"/>
          </a:xfrm>
          <a:prstGeom prst="rect">
            <a:avLst/>
          </a:prstGeom>
          <a:noFill/>
        </p:spPr>
        <p:txBody>
          <a:bodyPr wrap="square" lIns="0" rIns="0" tIns="0" bIns="0" anchor="t">
            <a:spAutoFit/>
          </a:bodyPr>
          <a:lstStyle/>
          <a:p>
            <a:pPr algn="ctr">
              <a:spcAft>
                <a:spcPts val="0"/>
              </a:spcAft>
            </a:pPr>
            <a:r>
              <a:rPr sz="800" b="0" i="0">
                <a:solidFill>
                  <a:srgbClr val="93A6C8"/>
                </a:solidFill>
                <a:latin typeface="Calibri"/>
              </a:rPr>
              <a:t>FIU-IND draft</a:t>
            </a:r>
          </a:p>
        </p:txBody>
      </p:sp>
      <p:sp>
        <p:nvSpPr>
          <p:cNvPr id="24" name="Oval 23"/>
          <p:cNvSpPr/>
          <p:nvPr/>
        </p:nvSpPr>
        <p:spPr>
          <a:xfrm>
            <a:off x="566928" y="2656332"/>
            <a:ext cx="182880" cy="182880"/>
          </a:xfrm>
          <a:prstGeom prst="ellipse">
            <a:avLst/>
          </a:prstGeom>
          <a:solidFill>
            <a:srgbClr val="38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2606040"/>
            <a:ext cx="6117336" cy="941832"/>
          </a:xfrm>
          <a:prstGeom prst="rect">
            <a:avLst/>
          </a:prstGeom>
          <a:noFill/>
        </p:spPr>
        <p:txBody>
          <a:bodyPr wrap="square" lIns="0" rIns="0" tIns="0" bIns="0" anchor="t">
            <a:spAutoFit/>
          </a:bodyPr>
          <a:lstStyle/>
          <a:p>
            <a:pPr algn="l">
              <a:spcAft>
                <a:spcPts val="0"/>
              </a:spcAft>
            </a:pPr>
            <a:r>
              <a:rPr sz="1300" b="1" i="0">
                <a:solidFill>
                  <a:srgbClr val="E8EEFB"/>
                </a:solidFill>
                <a:latin typeface="Arial"/>
              </a:rPr>
              <a:t>Nine layers, with separate powers.  </a:t>
            </a:r>
            <a:r>
              <a:rPr sz="1100" b="0" i="0">
                <a:solidFill>
                  <a:srgbClr val="93A6C8"/>
                </a:solidFill>
                <a:latin typeface="Calibri"/>
              </a:rPr>
              <a:t>Structuring, fan-out to fan-in, circular flow, pass-through conduits and threshold evasion can originate an alert. Centrality and an IsolationForest anomaly score can only raise the score of an account a primary layer already flagged, since an unsupervised score cannot be explained to a regulator.</a:t>
            </a:r>
          </a:p>
        </p:txBody>
      </p:sp>
      <p:sp>
        <p:nvSpPr>
          <p:cNvPr id="26" name="Oval 25"/>
          <p:cNvSpPr/>
          <p:nvPr/>
        </p:nvSpPr>
        <p:spPr>
          <a:xfrm>
            <a:off x="566928" y="3653028"/>
            <a:ext cx="182880" cy="182880"/>
          </a:xfrm>
          <a:prstGeom prst="ellipse">
            <a:avLst/>
          </a:prstGeom>
          <a:solidFill>
            <a:srgbClr val="FF4D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3602736"/>
            <a:ext cx="6117336" cy="941832"/>
          </a:xfrm>
          <a:prstGeom prst="rect">
            <a:avLst/>
          </a:prstGeom>
          <a:noFill/>
        </p:spPr>
        <p:txBody>
          <a:bodyPr wrap="square" lIns="0" rIns="0" tIns="0" bIns="0" anchor="t">
            <a:spAutoFit/>
          </a:bodyPr>
          <a:lstStyle/>
          <a:p>
            <a:pPr algn="l">
              <a:spcAft>
                <a:spcPts val="0"/>
              </a:spcAft>
            </a:pPr>
            <a:r>
              <a:rPr sz="1300" b="1" i="0">
                <a:solidFill>
                  <a:srgbClr val="E8EEFB"/>
                </a:solidFill>
                <a:latin typeface="Arial"/>
              </a:rPr>
              <a:t>Layer 9 targets the evasive case.  </a:t>
            </a:r>
            <a:r>
              <a:rPr sz="1100" b="0" i="0">
                <a:solidFill>
                  <a:srgbClr val="93A6C8"/>
                </a:solidFill>
                <a:latin typeface="Calibri"/>
              </a:rPr>
              <a:t>It scores rhythm, conservation of one sum across hops, and net exposure once reciprocal cover traffic is removed. These follow from moving other people's money through other people's accounts. Two of the three must agree, and every hop must be one-shot, before an account is flagged.</a:t>
            </a:r>
          </a:p>
        </p:txBody>
      </p:sp>
      <p:sp>
        <p:nvSpPr>
          <p:cNvPr id="28" name="Oval 27"/>
          <p:cNvSpPr/>
          <p:nvPr/>
        </p:nvSpPr>
        <p:spPr>
          <a:xfrm>
            <a:off x="566928" y="4649724"/>
            <a:ext cx="182880" cy="18288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2" y="4599432"/>
            <a:ext cx="6117336" cy="941832"/>
          </a:xfrm>
          <a:prstGeom prst="rect">
            <a:avLst/>
          </a:prstGeom>
          <a:noFill/>
        </p:spPr>
        <p:txBody>
          <a:bodyPr wrap="square" lIns="0" rIns="0" tIns="0" bIns="0" anchor="t">
            <a:spAutoFit/>
          </a:bodyPr>
          <a:lstStyle/>
          <a:p>
            <a:pPr algn="l">
              <a:spcAft>
                <a:spcPts val="0"/>
              </a:spcAft>
            </a:pPr>
            <a:r>
              <a:rPr sz="1300" b="1" i="0">
                <a:solidFill>
                  <a:srgbClr val="E8EEFB"/>
                </a:solidFill>
                <a:latin typeface="Arial"/>
              </a:rPr>
              <a:t>Thresholds are inferred from the data.  </a:t>
            </a:r>
            <a:r>
              <a:rPr sz="1100" b="0" i="0">
                <a:solidFill>
                  <a:srgbClr val="93A6C8"/>
                </a:solidFill>
                <a:latin typeface="Calibri"/>
              </a:rPr>
              <a:t>The structuring test reads the lowest round figure a run of tranches never crosses rather than hard-coding a jurisdiction, so the same code applies to a Rs 10 lakh CTR, a US $10,000 CTR or a EUR 10,000 ceiling.</a:t>
            </a:r>
          </a:p>
        </p:txBody>
      </p:sp>
      <p:sp>
        <p:nvSpPr>
          <p:cNvPr id="30" name="Oval 29"/>
          <p:cNvSpPr/>
          <p:nvPr/>
        </p:nvSpPr>
        <p:spPr>
          <a:xfrm>
            <a:off x="566928" y="5646420"/>
            <a:ext cx="182880" cy="182880"/>
          </a:xfrm>
          <a:prstGeom prst="ellipse">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596128"/>
            <a:ext cx="6117336" cy="941832"/>
          </a:xfrm>
          <a:prstGeom prst="rect">
            <a:avLst/>
          </a:prstGeom>
          <a:noFill/>
        </p:spPr>
        <p:txBody>
          <a:bodyPr wrap="square" lIns="0" rIns="0" tIns="0" bIns="0" anchor="t">
            <a:spAutoFit/>
          </a:bodyPr>
          <a:lstStyle/>
          <a:p>
            <a:pPr algn="l">
              <a:spcAft>
                <a:spcPts val="0"/>
              </a:spcAft>
            </a:pPr>
            <a:r>
              <a:rPr sz="1300" b="1" i="0">
                <a:solidFill>
                  <a:srgbClr val="E8EEFB"/>
                </a:solidFill>
                <a:latin typeface="Arial"/>
              </a:rPr>
              <a:t>Output is a case file, not a score.  </a:t>
            </a:r>
            <a:r>
              <a:rPr sz="1100" b="0" i="0">
                <a:solidFill>
                  <a:srgbClr val="93A6C8"/>
                </a:solidFill>
                <a:latin typeface="Calibri"/>
              </a:rPr>
              <a:t>Each alert opens the triggering layer, the ring around the account, a reconstructed placement to layering to integration timeline, and an editable STR. Every threshold is exposed as a slider and the pipeline re-runs on change.</a:t>
            </a:r>
          </a:p>
        </p:txBody>
      </p:sp>
      <p:sp>
        <p:nvSpPr>
          <p:cNvPr id="32" name="Rounded Rectangle 31"/>
          <p:cNvSpPr/>
          <p:nvPr/>
        </p:nvSpPr>
        <p:spPr>
          <a:xfrm>
            <a:off x="7360920" y="1627632"/>
            <a:ext cx="4263847" cy="1371600"/>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62088" y="1764792"/>
            <a:ext cx="3861511" cy="409903"/>
          </a:xfrm>
          <a:prstGeom prst="rect">
            <a:avLst/>
          </a:prstGeom>
          <a:noFill/>
        </p:spPr>
        <p:txBody>
          <a:bodyPr wrap="square" lIns="0" rIns="0" tIns="0" bIns="0" anchor="t">
            <a:spAutoFit/>
          </a:bodyPr>
          <a:lstStyle/>
          <a:p>
            <a:pPr algn="l">
              <a:spcAft>
                <a:spcPts val="0"/>
              </a:spcAft>
            </a:pPr>
            <a:r>
              <a:rPr sz="2600" b="1" i="0">
                <a:solidFill>
                  <a:srgbClr val="38E0D8"/>
                </a:solidFill>
                <a:latin typeface="Arial"/>
              </a:rPr>
              <a:t>1.00 / 1.00</a:t>
            </a:r>
          </a:p>
        </p:txBody>
      </p:sp>
      <p:sp>
        <p:nvSpPr>
          <p:cNvPr id="34" name="TextBox 33"/>
          <p:cNvSpPr txBox="1"/>
          <p:nvPr/>
        </p:nvSpPr>
        <p:spPr>
          <a:xfrm>
            <a:off x="7562088" y="2220415"/>
            <a:ext cx="3861511" cy="650800"/>
          </a:xfrm>
          <a:prstGeom prst="rect">
            <a:avLst/>
          </a:prstGeom>
          <a:noFill/>
        </p:spPr>
        <p:txBody>
          <a:bodyPr wrap="square" lIns="0" rIns="0" tIns="0" bIns="0" anchor="t">
            <a:spAutoFit/>
          </a:bodyPr>
          <a:lstStyle/>
          <a:p>
            <a:pPr algn="l">
              <a:lnSpc>
                <a:spcPct val="110000"/>
              </a:lnSpc>
              <a:spcAft>
                <a:spcPts val="0"/>
              </a:spcAft>
            </a:pPr>
            <a:r>
              <a:rPr sz="1150" b="0" i="0">
                <a:solidFill>
                  <a:srgbClr val="93A6C8"/>
                </a:solidFill>
                <a:latin typeface="Calibri"/>
              </a:rPr>
              <a:t>Precision and recall on the labelled ledger, across 10 seeds</a:t>
            </a:r>
          </a:p>
        </p:txBody>
      </p:sp>
      <p:sp>
        <p:nvSpPr>
          <p:cNvPr id="35" name="Rounded Rectangle 34"/>
          <p:cNvSpPr/>
          <p:nvPr/>
        </p:nvSpPr>
        <p:spPr>
          <a:xfrm>
            <a:off x="7360920" y="3145536"/>
            <a:ext cx="4263847" cy="1371600"/>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62088" y="3282696"/>
            <a:ext cx="3861511" cy="409903"/>
          </a:xfrm>
          <a:prstGeom prst="rect">
            <a:avLst/>
          </a:prstGeom>
          <a:noFill/>
        </p:spPr>
        <p:txBody>
          <a:bodyPr wrap="square" lIns="0" rIns="0" tIns="0" bIns="0" anchor="t">
            <a:spAutoFit/>
          </a:bodyPr>
          <a:lstStyle/>
          <a:p>
            <a:pPr algn="l">
              <a:spcAft>
                <a:spcPts val="0"/>
              </a:spcAft>
            </a:pPr>
            <a:r>
              <a:rPr sz="2600" b="1" i="0">
                <a:solidFill>
                  <a:srgbClr val="2ECC8F"/>
                </a:solidFill>
                <a:latin typeface="Arial"/>
              </a:rPr>
              <a:t>19 of 19</a:t>
            </a:r>
          </a:p>
        </p:txBody>
      </p:sp>
      <p:sp>
        <p:nvSpPr>
          <p:cNvPr id="37" name="TextBox 36"/>
          <p:cNvSpPr txBox="1"/>
          <p:nvPr/>
        </p:nvSpPr>
        <p:spPr>
          <a:xfrm>
            <a:off x="7562088" y="3738319"/>
            <a:ext cx="3861511" cy="650800"/>
          </a:xfrm>
          <a:prstGeom prst="rect">
            <a:avLst/>
          </a:prstGeom>
          <a:noFill/>
        </p:spPr>
        <p:txBody>
          <a:bodyPr wrap="square" lIns="0" rIns="0" tIns="0" bIns="0" anchor="t">
            <a:spAutoFit/>
          </a:bodyPr>
          <a:lstStyle/>
          <a:p>
            <a:pPr algn="l">
              <a:lnSpc>
                <a:spcPct val="110000"/>
              </a:lnSpc>
              <a:spcAft>
                <a:spcPts val="0"/>
              </a:spcAft>
            </a:pPr>
            <a:r>
              <a:rPr sz="1150" b="0" i="0">
                <a:solidFill>
                  <a:srgbClr val="93A6C8"/>
                </a:solidFill>
                <a:latin typeface="Calibri"/>
              </a:rPr>
              <a:t>Lawful accounts built to mimic each typology, none flagged</a:t>
            </a:r>
          </a:p>
        </p:txBody>
      </p:sp>
      <p:sp>
        <p:nvSpPr>
          <p:cNvPr id="38" name="Rounded Rectangle 37"/>
          <p:cNvSpPr/>
          <p:nvPr/>
        </p:nvSpPr>
        <p:spPr>
          <a:xfrm>
            <a:off x="7360920" y="4663440"/>
            <a:ext cx="4263847" cy="1371600"/>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62088" y="4800600"/>
            <a:ext cx="3861511" cy="409903"/>
          </a:xfrm>
          <a:prstGeom prst="rect">
            <a:avLst/>
          </a:prstGeom>
          <a:noFill/>
        </p:spPr>
        <p:txBody>
          <a:bodyPr wrap="square" lIns="0" rIns="0" tIns="0" bIns="0" anchor="t">
            <a:spAutoFit/>
          </a:bodyPr>
          <a:lstStyle/>
          <a:p>
            <a:pPr algn="l">
              <a:spcAft>
                <a:spcPts val="0"/>
              </a:spcAft>
            </a:pPr>
            <a:r>
              <a:rPr sz="2600" b="1" i="0">
                <a:solidFill>
                  <a:srgbClr val="FF9F43"/>
                </a:solidFill>
                <a:latin typeface="Arial"/>
              </a:rPr>
              <a:t>0.00 to 1.00</a:t>
            </a:r>
          </a:p>
        </p:txBody>
      </p:sp>
      <p:sp>
        <p:nvSpPr>
          <p:cNvPr id="40" name="TextBox 39"/>
          <p:cNvSpPr txBox="1"/>
          <p:nvPr/>
        </p:nvSpPr>
        <p:spPr>
          <a:xfrm>
            <a:off x="7562088" y="5256223"/>
            <a:ext cx="3861511" cy="650800"/>
          </a:xfrm>
          <a:prstGeom prst="rect">
            <a:avLst/>
          </a:prstGeom>
          <a:noFill/>
        </p:spPr>
        <p:txBody>
          <a:bodyPr wrap="square" lIns="0" rIns="0" tIns="0" bIns="0" anchor="t">
            <a:spAutoFit/>
          </a:bodyPr>
          <a:lstStyle/>
          <a:p>
            <a:pPr algn="l">
              <a:lnSpc>
                <a:spcPct val="110000"/>
              </a:lnSpc>
              <a:spcAft>
                <a:spcPts val="0"/>
              </a:spcAft>
            </a:pPr>
            <a:r>
              <a:rPr sz="1150" b="0" i="0">
                <a:solidFill>
                  <a:srgbClr val="93A6C8"/>
                </a:solidFill>
                <a:latin typeface="Calibri"/>
              </a:rPr>
              <a:t>Recall on two ledgers built to evade the published thresholds, once layer 9 is enabled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C18"/>
        </a:solidFill>
        <a:effectLst/>
      </p:bgPr>
    </p:bg>
    <p:spTree>
      <p:nvGrpSpPr>
        <p:cNvPr id="1" name=""/>
        <p:cNvGrpSpPr/>
        <p:nvPr/>
      </p:nvGrpSpPr>
      <p:grpSpPr/>
      <p:sp>
        <p:nvSpPr>
          <p:cNvPr id="2" name="Oval 1"/>
          <p:cNvSpPr/>
          <p:nvPr/>
        </p:nvSpPr>
        <p:spPr>
          <a:xfrm>
            <a:off x="11240719" y="548640"/>
            <a:ext cx="384048" cy="384048"/>
          </a:xfrm>
          <a:prstGeom prst="ellipse">
            <a:avLst/>
          </a:prstGeom>
          <a:solidFill>
            <a:srgbClr val="16223C"/>
          </a:solidFill>
          <a:ln w="15875">
            <a:solidFill>
              <a:srgbClr val="38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0719" y="617219"/>
            <a:ext cx="384048" cy="274320"/>
          </a:xfrm>
          <a:prstGeom prst="rect">
            <a:avLst/>
          </a:prstGeom>
          <a:noFill/>
        </p:spPr>
        <p:txBody>
          <a:bodyPr wrap="square" lIns="0" rIns="0" tIns="0" bIns="0" anchor="t">
            <a:spAutoFit/>
          </a:bodyPr>
          <a:lstStyle/>
          <a:p>
            <a:pPr algn="ctr">
              <a:spcAft>
                <a:spcPts val="600"/>
              </a:spcAft>
            </a:pPr>
            <a:r>
              <a:rPr sz="1250" b="1" i="0">
                <a:solidFill>
                  <a:srgbClr val="38E0D8"/>
                </a:solidFill>
                <a:latin typeface="Arial"/>
              </a:rPr>
              <a:t>3</a:t>
            </a:r>
          </a:p>
        </p:txBody>
      </p:sp>
      <p:sp>
        <p:nvSpPr>
          <p:cNvPr id="4" name="TextBox 3"/>
          <p:cNvSpPr txBox="1"/>
          <p:nvPr/>
        </p:nvSpPr>
        <p:spPr>
          <a:xfrm>
            <a:off x="566928" y="502920"/>
            <a:ext cx="10417759" cy="566928"/>
          </a:xfrm>
          <a:prstGeom prst="rect">
            <a:avLst/>
          </a:prstGeom>
          <a:noFill/>
        </p:spPr>
        <p:txBody>
          <a:bodyPr wrap="square" lIns="0" rIns="0" tIns="0" bIns="0" anchor="t">
            <a:spAutoFit/>
          </a:bodyPr>
          <a:lstStyle/>
          <a:p>
            <a:pPr algn="l">
              <a:spcAft>
                <a:spcPts val="600"/>
              </a:spcAft>
            </a:pPr>
            <a:r>
              <a:rPr sz="3200" b="1" i="0">
                <a:solidFill>
                  <a:srgbClr val="E8EEFB"/>
                </a:solidFill>
                <a:latin typeface="Arial"/>
              </a:rPr>
              <a:t>Technology stack</a:t>
            </a:r>
          </a:p>
        </p:txBody>
      </p:sp>
      <p:sp>
        <p:nvSpPr>
          <p:cNvPr id="5" name="TextBox 4"/>
          <p:cNvSpPr txBox="1"/>
          <p:nvPr/>
        </p:nvSpPr>
        <p:spPr>
          <a:xfrm>
            <a:off x="566928" y="1078992"/>
            <a:ext cx="10417759" cy="384048"/>
          </a:xfrm>
          <a:prstGeom prst="rect">
            <a:avLst/>
          </a:prstGeom>
          <a:noFill/>
        </p:spPr>
        <p:txBody>
          <a:bodyPr wrap="square" lIns="0" rIns="0" tIns="0" bIns="0" anchor="t">
            <a:spAutoFit/>
          </a:bodyPr>
          <a:lstStyle/>
          <a:p>
            <a:pPr algn="l">
              <a:spcAft>
                <a:spcPts val="0"/>
              </a:spcAft>
            </a:pPr>
            <a:r>
              <a:rPr sz="1450" b="0" i="0">
                <a:solidFill>
                  <a:srgbClr val="93A6C8"/>
                </a:solidFill>
                <a:latin typeface="Calibri"/>
              </a:rPr>
              <a:t>Python throughout, no build step and no external services</a:t>
            </a:r>
          </a:p>
        </p:txBody>
      </p:sp>
      <p:sp>
        <p:nvSpPr>
          <p:cNvPr id="6" name="Rounded Rectangle 5"/>
          <p:cNvSpPr/>
          <p:nvPr/>
        </p:nvSpPr>
        <p:spPr>
          <a:xfrm>
            <a:off x="566928" y="1645920"/>
            <a:ext cx="3503066" cy="2395728"/>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645920"/>
            <a:ext cx="54864" cy="2395728"/>
          </a:xfrm>
          <a:prstGeom prst="rect">
            <a:avLst/>
          </a:prstGeom>
          <a:solidFill>
            <a:srgbClr val="38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65376"/>
            <a:ext cx="2954426" cy="310896"/>
          </a:xfrm>
          <a:prstGeom prst="rect">
            <a:avLst/>
          </a:prstGeom>
          <a:noFill/>
        </p:spPr>
        <p:txBody>
          <a:bodyPr wrap="square" lIns="0" rIns="0" tIns="0" bIns="0" anchor="t">
            <a:spAutoFit/>
          </a:bodyPr>
          <a:lstStyle/>
          <a:p>
            <a:pPr algn="l">
              <a:spcAft>
                <a:spcPts val="0"/>
              </a:spcAft>
            </a:pPr>
            <a:r>
              <a:rPr sz="1400" b="1" i="0">
                <a:solidFill>
                  <a:srgbClr val="E8EEFB"/>
                </a:solidFill>
                <a:latin typeface="Arial"/>
              </a:rPr>
              <a:t>Detection engine</a:t>
            </a:r>
          </a:p>
        </p:txBody>
      </p:sp>
      <p:sp>
        <p:nvSpPr>
          <p:cNvPr id="9" name="Oval 8"/>
          <p:cNvSpPr/>
          <p:nvPr/>
        </p:nvSpPr>
        <p:spPr>
          <a:xfrm>
            <a:off x="859536" y="2368296"/>
            <a:ext cx="91440" cy="91440"/>
          </a:xfrm>
          <a:prstGeom prst="ellipse">
            <a:avLst/>
          </a:prstGeom>
          <a:solidFill>
            <a:srgbClr val="38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286000"/>
            <a:ext cx="2716682" cy="402336"/>
          </a:xfrm>
          <a:prstGeom prst="rect">
            <a:avLst/>
          </a:prstGeom>
          <a:noFill/>
        </p:spPr>
        <p:txBody>
          <a:bodyPr wrap="square" lIns="0" rIns="0" tIns="0" bIns="0" anchor="t">
            <a:spAutoFit/>
          </a:bodyPr>
          <a:lstStyle/>
          <a:p>
            <a:pPr algn="l">
              <a:lnSpc>
                <a:spcPct val="110000"/>
              </a:lnSpc>
              <a:spcAft>
                <a:spcPts val="0"/>
              </a:spcAft>
            </a:pPr>
            <a:r>
              <a:rPr sz="1100" b="0" i="0">
                <a:solidFill>
                  <a:srgbClr val="93A6C8"/>
                </a:solidFill>
                <a:latin typeface="Calibri"/>
              </a:rPr>
              <a:t>Python 3.11, a pure library with no I/O</a:t>
            </a:r>
          </a:p>
        </p:txBody>
      </p:sp>
      <p:sp>
        <p:nvSpPr>
          <p:cNvPr id="11" name="Oval 10"/>
          <p:cNvSpPr/>
          <p:nvPr/>
        </p:nvSpPr>
        <p:spPr>
          <a:xfrm>
            <a:off x="859536" y="2788920"/>
            <a:ext cx="91440" cy="91440"/>
          </a:xfrm>
          <a:prstGeom prst="ellipse">
            <a:avLst/>
          </a:prstGeom>
          <a:solidFill>
            <a:srgbClr val="38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706624"/>
            <a:ext cx="2716682" cy="402336"/>
          </a:xfrm>
          <a:prstGeom prst="rect">
            <a:avLst/>
          </a:prstGeom>
          <a:noFill/>
        </p:spPr>
        <p:txBody>
          <a:bodyPr wrap="square" lIns="0" rIns="0" tIns="0" bIns="0" anchor="t">
            <a:spAutoFit/>
          </a:bodyPr>
          <a:lstStyle/>
          <a:p>
            <a:pPr algn="l">
              <a:lnSpc>
                <a:spcPct val="110000"/>
              </a:lnSpc>
              <a:spcAft>
                <a:spcPts val="0"/>
              </a:spcAft>
            </a:pPr>
            <a:r>
              <a:rPr sz="1100" b="0" i="0">
                <a:solidFill>
                  <a:srgbClr val="93A6C8"/>
                </a:solidFill>
                <a:latin typeface="Calibri"/>
              </a:rPr>
              <a:t>NetworkX for the directed money-flow graph</a:t>
            </a:r>
          </a:p>
        </p:txBody>
      </p:sp>
      <p:sp>
        <p:nvSpPr>
          <p:cNvPr id="13" name="Oval 12"/>
          <p:cNvSpPr/>
          <p:nvPr/>
        </p:nvSpPr>
        <p:spPr>
          <a:xfrm>
            <a:off x="859536" y="3209544"/>
            <a:ext cx="91440" cy="91440"/>
          </a:xfrm>
          <a:prstGeom prst="ellipse">
            <a:avLst/>
          </a:prstGeom>
          <a:solidFill>
            <a:srgbClr val="38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3127248"/>
            <a:ext cx="2716682" cy="402336"/>
          </a:xfrm>
          <a:prstGeom prst="rect">
            <a:avLst/>
          </a:prstGeom>
          <a:noFill/>
        </p:spPr>
        <p:txBody>
          <a:bodyPr wrap="square" lIns="0" rIns="0" tIns="0" bIns="0" anchor="t">
            <a:spAutoFit/>
          </a:bodyPr>
          <a:lstStyle/>
          <a:p>
            <a:pPr algn="l">
              <a:lnSpc>
                <a:spcPct val="110000"/>
              </a:lnSpc>
              <a:spcAft>
                <a:spcPts val="0"/>
              </a:spcAft>
            </a:pPr>
            <a:r>
              <a:rPr sz="1100" b="0" i="0">
                <a:solidFill>
                  <a:srgbClr val="93A6C8"/>
                </a:solidFill>
                <a:latin typeface="Calibri"/>
              </a:rPr>
              <a:t>pandas and NumPy over the ledger</a:t>
            </a:r>
          </a:p>
        </p:txBody>
      </p:sp>
      <p:sp>
        <p:nvSpPr>
          <p:cNvPr id="15" name="Oval 14"/>
          <p:cNvSpPr/>
          <p:nvPr/>
        </p:nvSpPr>
        <p:spPr>
          <a:xfrm>
            <a:off x="859536" y="3630168"/>
            <a:ext cx="91440" cy="91440"/>
          </a:xfrm>
          <a:prstGeom prst="ellipse">
            <a:avLst/>
          </a:prstGeom>
          <a:solidFill>
            <a:srgbClr val="38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3547872"/>
            <a:ext cx="2716682" cy="402336"/>
          </a:xfrm>
          <a:prstGeom prst="rect">
            <a:avLst/>
          </a:prstGeom>
          <a:noFill/>
        </p:spPr>
        <p:txBody>
          <a:bodyPr wrap="square" lIns="0" rIns="0" tIns="0" bIns="0" anchor="t">
            <a:spAutoFit/>
          </a:bodyPr>
          <a:lstStyle/>
          <a:p>
            <a:pPr algn="l">
              <a:lnSpc>
                <a:spcPct val="110000"/>
              </a:lnSpc>
              <a:spcAft>
                <a:spcPts val="0"/>
              </a:spcAft>
            </a:pPr>
            <a:r>
              <a:rPr sz="1100" b="0" i="0">
                <a:solidFill>
                  <a:srgbClr val="93A6C8"/>
                </a:solidFill>
                <a:latin typeface="Calibri"/>
              </a:rPr>
              <a:t>scikit-learn IsolationForest, nine features</a:t>
            </a:r>
          </a:p>
        </p:txBody>
      </p:sp>
      <p:sp>
        <p:nvSpPr>
          <p:cNvPr id="17" name="Rounded Rectangle 16"/>
          <p:cNvSpPr/>
          <p:nvPr/>
        </p:nvSpPr>
        <p:spPr>
          <a:xfrm>
            <a:off x="4344314" y="1645920"/>
            <a:ext cx="3503066" cy="2395728"/>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4314" y="1645920"/>
            <a:ext cx="54864" cy="2395728"/>
          </a:xfrm>
          <a:prstGeom prst="rect">
            <a:avLst/>
          </a:prstGeom>
          <a:solidFill>
            <a:srgbClr val="4D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6922" y="1865376"/>
            <a:ext cx="2954426" cy="310896"/>
          </a:xfrm>
          <a:prstGeom prst="rect">
            <a:avLst/>
          </a:prstGeom>
          <a:noFill/>
        </p:spPr>
        <p:txBody>
          <a:bodyPr wrap="square" lIns="0" rIns="0" tIns="0" bIns="0" anchor="t">
            <a:spAutoFit/>
          </a:bodyPr>
          <a:lstStyle/>
          <a:p>
            <a:pPr algn="l">
              <a:spcAft>
                <a:spcPts val="0"/>
              </a:spcAft>
            </a:pPr>
            <a:r>
              <a:rPr sz="1400" b="1" i="0">
                <a:solidFill>
                  <a:srgbClr val="E8EEFB"/>
                </a:solidFill>
                <a:latin typeface="Arial"/>
              </a:rPr>
              <a:t>Application</a:t>
            </a:r>
          </a:p>
        </p:txBody>
      </p:sp>
      <p:sp>
        <p:nvSpPr>
          <p:cNvPr id="20" name="Oval 19"/>
          <p:cNvSpPr/>
          <p:nvPr/>
        </p:nvSpPr>
        <p:spPr>
          <a:xfrm>
            <a:off x="4636922" y="2368296"/>
            <a:ext cx="91440" cy="91440"/>
          </a:xfrm>
          <a:prstGeom prst="ellipse">
            <a:avLst/>
          </a:prstGeom>
          <a:solidFill>
            <a:srgbClr val="4D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6378" y="2286000"/>
            <a:ext cx="2716682" cy="402336"/>
          </a:xfrm>
          <a:prstGeom prst="rect">
            <a:avLst/>
          </a:prstGeom>
          <a:noFill/>
        </p:spPr>
        <p:txBody>
          <a:bodyPr wrap="square" lIns="0" rIns="0" tIns="0" bIns="0" anchor="t">
            <a:spAutoFit/>
          </a:bodyPr>
          <a:lstStyle/>
          <a:p>
            <a:pPr algn="l">
              <a:lnSpc>
                <a:spcPct val="110000"/>
              </a:lnSpc>
              <a:spcAft>
                <a:spcPts val="0"/>
              </a:spcAft>
            </a:pPr>
            <a:r>
              <a:rPr sz="1100" b="0" i="0">
                <a:solidFill>
                  <a:srgbClr val="93A6C8"/>
                </a:solidFill>
                <a:latin typeface="Calibri"/>
              </a:rPr>
              <a:t>Flask for the API and in-process state</a:t>
            </a:r>
          </a:p>
        </p:txBody>
      </p:sp>
      <p:sp>
        <p:nvSpPr>
          <p:cNvPr id="22" name="Oval 21"/>
          <p:cNvSpPr/>
          <p:nvPr/>
        </p:nvSpPr>
        <p:spPr>
          <a:xfrm>
            <a:off x="4636922" y="2788920"/>
            <a:ext cx="91440" cy="91440"/>
          </a:xfrm>
          <a:prstGeom prst="ellipse">
            <a:avLst/>
          </a:prstGeom>
          <a:solidFill>
            <a:srgbClr val="4D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56378" y="2706624"/>
            <a:ext cx="2716682" cy="402336"/>
          </a:xfrm>
          <a:prstGeom prst="rect">
            <a:avLst/>
          </a:prstGeom>
          <a:noFill/>
        </p:spPr>
        <p:txBody>
          <a:bodyPr wrap="square" lIns="0" rIns="0" tIns="0" bIns="0" anchor="t">
            <a:spAutoFit/>
          </a:bodyPr>
          <a:lstStyle/>
          <a:p>
            <a:pPr algn="l">
              <a:lnSpc>
                <a:spcPct val="110000"/>
              </a:lnSpc>
              <a:spcAft>
                <a:spcPts val="0"/>
              </a:spcAft>
            </a:pPr>
            <a:r>
              <a:rPr sz="1100" b="0" i="0">
                <a:solidFill>
                  <a:srgbClr val="93A6C8"/>
                </a:solidFill>
                <a:latin typeface="Calibri"/>
              </a:rPr>
              <a:t>Hand-written HTML, CSS and vanilla JS</a:t>
            </a:r>
          </a:p>
        </p:txBody>
      </p:sp>
      <p:sp>
        <p:nvSpPr>
          <p:cNvPr id="24" name="Oval 23"/>
          <p:cNvSpPr/>
          <p:nvPr/>
        </p:nvSpPr>
        <p:spPr>
          <a:xfrm>
            <a:off x="4636922" y="3209544"/>
            <a:ext cx="91440" cy="91440"/>
          </a:xfrm>
          <a:prstGeom prst="ellipse">
            <a:avLst/>
          </a:prstGeom>
          <a:solidFill>
            <a:srgbClr val="4D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56378" y="3127248"/>
            <a:ext cx="2716682" cy="402336"/>
          </a:xfrm>
          <a:prstGeom prst="rect">
            <a:avLst/>
          </a:prstGeom>
          <a:noFill/>
        </p:spPr>
        <p:txBody>
          <a:bodyPr wrap="square" lIns="0" rIns="0" tIns="0" bIns="0" anchor="t">
            <a:spAutoFit/>
          </a:bodyPr>
          <a:lstStyle/>
          <a:p>
            <a:pPr algn="l">
              <a:lnSpc>
                <a:spcPct val="110000"/>
              </a:lnSpc>
              <a:spcAft>
                <a:spcPts val="0"/>
              </a:spcAft>
            </a:pPr>
            <a:r>
              <a:rPr sz="1100" b="0" i="0">
                <a:solidFill>
                  <a:srgbClr val="93A6C8"/>
                </a:solidFill>
                <a:latin typeface="Calibri"/>
              </a:rPr>
              <a:t>Force-directed graph written from scratch</a:t>
            </a:r>
          </a:p>
        </p:txBody>
      </p:sp>
      <p:sp>
        <p:nvSpPr>
          <p:cNvPr id="26" name="Oval 25"/>
          <p:cNvSpPr/>
          <p:nvPr/>
        </p:nvSpPr>
        <p:spPr>
          <a:xfrm>
            <a:off x="4636922" y="3630168"/>
            <a:ext cx="91440" cy="91440"/>
          </a:xfrm>
          <a:prstGeom prst="ellipse">
            <a:avLst/>
          </a:prstGeom>
          <a:solidFill>
            <a:srgbClr val="4D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56378" y="3547872"/>
            <a:ext cx="2716682" cy="402336"/>
          </a:xfrm>
          <a:prstGeom prst="rect">
            <a:avLst/>
          </a:prstGeom>
          <a:noFill/>
        </p:spPr>
        <p:txBody>
          <a:bodyPr wrap="square" lIns="0" rIns="0" tIns="0" bIns="0" anchor="t">
            <a:spAutoFit/>
          </a:bodyPr>
          <a:lstStyle/>
          <a:p>
            <a:pPr algn="l">
              <a:lnSpc>
                <a:spcPct val="110000"/>
              </a:lnSpc>
              <a:spcAft>
                <a:spcPts val="0"/>
              </a:spcAft>
            </a:pPr>
            <a:r>
              <a:rPr sz="1100" b="0" i="0">
                <a:solidFill>
                  <a:srgbClr val="93A6C8"/>
                </a:solidFill>
                <a:latin typeface="Calibri"/>
              </a:rPr>
              <a:t>CSV, JSON and XLSX export via openpyxl</a:t>
            </a:r>
          </a:p>
        </p:txBody>
      </p:sp>
      <p:sp>
        <p:nvSpPr>
          <p:cNvPr id="28" name="Rounded Rectangle 27"/>
          <p:cNvSpPr/>
          <p:nvPr/>
        </p:nvSpPr>
        <p:spPr>
          <a:xfrm>
            <a:off x="8121700" y="1645920"/>
            <a:ext cx="3503066" cy="2395728"/>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21700" y="1645920"/>
            <a:ext cx="54864" cy="239572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4308" y="1865376"/>
            <a:ext cx="2954426" cy="310896"/>
          </a:xfrm>
          <a:prstGeom prst="rect">
            <a:avLst/>
          </a:prstGeom>
          <a:noFill/>
        </p:spPr>
        <p:txBody>
          <a:bodyPr wrap="square" lIns="0" rIns="0" tIns="0" bIns="0" anchor="t">
            <a:spAutoFit/>
          </a:bodyPr>
          <a:lstStyle/>
          <a:p>
            <a:pPr algn="l">
              <a:spcAft>
                <a:spcPts val="0"/>
              </a:spcAft>
            </a:pPr>
            <a:r>
              <a:rPr sz="1400" b="1" i="0">
                <a:solidFill>
                  <a:srgbClr val="E8EEFB"/>
                </a:solidFill>
                <a:latin typeface="Arial"/>
              </a:rPr>
              <a:t>Evidence and tooling</a:t>
            </a:r>
          </a:p>
        </p:txBody>
      </p:sp>
      <p:sp>
        <p:nvSpPr>
          <p:cNvPr id="31" name="Oval 30"/>
          <p:cNvSpPr/>
          <p:nvPr/>
        </p:nvSpPr>
        <p:spPr>
          <a:xfrm>
            <a:off x="8414308" y="2368296"/>
            <a:ext cx="91440" cy="914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33764" y="2286000"/>
            <a:ext cx="2716682" cy="402336"/>
          </a:xfrm>
          <a:prstGeom prst="rect">
            <a:avLst/>
          </a:prstGeom>
          <a:noFill/>
        </p:spPr>
        <p:txBody>
          <a:bodyPr wrap="square" lIns="0" rIns="0" tIns="0" bIns="0" anchor="t">
            <a:spAutoFit/>
          </a:bodyPr>
          <a:lstStyle/>
          <a:p>
            <a:pPr algn="l">
              <a:lnSpc>
                <a:spcPct val="110000"/>
              </a:lnSpc>
              <a:spcAft>
                <a:spcPts val="0"/>
              </a:spcAft>
            </a:pPr>
            <a:r>
              <a:rPr sz="1100" b="0" i="0">
                <a:solidFill>
                  <a:srgbClr val="93A6C8"/>
                </a:solidFill>
                <a:latin typeface="Calibri"/>
              </a:rPr>
              <a:t>matplotlib for every chart in the deck</a:t>
            </a:r>
          </a:p>
        </p:txBody>
      </p:sp>
      <p:sp>
        <p:nvSpPr>
          <p:cNvPr id="33" name="Oval 32"/>
          <p:cNvSpPr/>
          <p:nvPr/>
        </p:nvSpPr>
        <p:spPr>
          <a:xfrm>
            <a:off x="8414308" y="2788920"/>
            <a:ext cx="91440" cy="914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33764" y="2706624"/>
            <a:ext cx="2716682" cy="402336"/>
          </a:xfrm>
          <a:prstGeom prst="rect">
            <a:avLst/>
          </a:prstGeom>
          <a:noFill/>
        </p:spPr>
        <p:txBody>
          <a:bodyPr wrap="square" lIns="0" rIns="0" tIns="0" bIns="0" anchor="t">
            <a:spAutoFit/>
          </a:bodyPr>
          <a:lstStyle/>
          <a:p>
            <a:pPr algn="l">
              <a:lnSpc>
                <a:spcPct val="110000"/>
              </a:lnSpc>
              <a:spcAft>
                <a:spcPts val="0"/>
              </a:spcAft>
            </a:pPr>
            <a:r>
              <a:rPr sz="1100" b="0" i="0">
                <a:solidFill>
                  <a:srgbClr val="93A6C8"/>
                </a:solidFill>
                <a:latin typeface="Calibri"/>
              </a:rPr>
              <a:t>python-pptx builds this deck from facts.json</a:t>
            </a:r>
          </a:p>
        </p:txBody>
      </p:sp>
      <p:sp>
        <p:nvSpPr>
          <p:cNvPr id="35" name="Oval 34"/>
          <p:cNvSpPr/>
          <p:nvPr/>
        </p:nvSpPr>
        <p:spPr>
          <a:xfrm>
            <a:off x="8414308" y="3209544"/>
            <a:ext cx="91440" cy="914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33764" y="3127248"/>
            <a:ext cx="2716682" cy="402336"/>
          </a:xfrm>
          <a:prstGeom prst="rect">
            <a:avLst/>
          </a:prstGeom>
          <a:noFill/>
        </p:spPr>
        <p:txBody>
          <a:bodyPr wrap="square" lIns="0" rIns="0" tIns="0" bIns="0" anchor="t">
            <a:spAutoFit/>
          </a:bodyPr>
          <a:lstStyle/>
          <a:p>
            <a:pPr algn="l">
              <a:lnSpc>
                <a:spcPct val="110000"/>
              </a:lnSpc>
              <a:spcAft>
                <a:spcPts val="0"/>
              </a:spcAft>
            </a:pPr>
            <a:r>
              <a:rPr sz="1100" b="0" i="0">
                <a:solidFill>
                  <a:srgbClr val="93A6C8"/>
                </a:solidFill>
                <a:latin typeface="Calibri"/>
              </a:rPr>
              <a:t>audit.py self-audit, redteam.py adversarial</a:t>
            </a:r>
          </a:p>
        </p:txBody>
      </p:sp>
      <p:sp>
        <p:nvSpPr>
          <p:cNvPr id="37" name="Oval 36"/>
          <p:cNvSpPr/>
          <p:nvPr/>
        </p:nvSpPr>
        <p:spPr>
          <a:xfrm>
            <a:off x="8414308" y="3630168"/>
            <a:ext cx="91440" cy="914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33764" y="3547872"/>
            <a:ext cx="2716682" cy="402336"/>
          </a:xfrm>
          <a:prstGeom prst="rect">
            <a:avLst/>
          </a:prstGeom>
          <a:noFill/>
        </p:spPr>
        <p:txBody>
          <a:bodyPr wrap="square" lIns="0" rIns="0" tIns="0" bIns="0" anchor="t">
            <a:spAutoFit/>
          </a:bodyPr>
          <a:lstStyle/>
          <a:p>
            <a:pPr algn="l">
              <a:lnSpc>
                <a:spcPct val="110000"/>
              </a:lnSpc>
              <a:spcAft>
                <a:spcPts val="0"/>
              </a:spcAft>
            </a:pPr>
            <a:r>
              <a:rPr sz="1100" b="0" i="0">
                <a:solidFill>
                  <a:srgbClr val="93A6C8"/>
                </a:solidFill>
                <a:latin typeface="Calibri"/>
              </a:rPr>
              <a:t>india_calibration.py pins RBI and NPCI figures</a:t>
            </a:r>
          </a:p>
        </p:txBody>
      </p:sp>
      <p:sp>
        <p:nvSpPr>
          <p:cNvPr id="39" name="Rounded Rectangle 38"/>
          <p:cNvSpPr/>
          <p:nvPr/>
        </p:nvSpPr>
        <p:spPr>
          <a:xfrm>
            <a:off x="566928" y="4297680"/>
            <a:ext cx="11057839" cy="1591056"/>
          </a:xfrm>
          <a:prstGeom prst="roundRect">
            <a:avLst>
              <a:gd name="adj" fmla="val 5500"/>
            </a:avLst>
          </a:prstGeom>
          <a:solidFill>
            <a:srgbClr val="16223C"/>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 y="4517136"/>
            <a:ext cx="4572000" cy="310896"/>
          </a:xfrm>
          <a:prstGeom prst="rect">
            <a:avLst/>
          </a:prstGeom>
          <a:noFill/>
        </p:spPr>
        <p:txBody>
          <a:bodyPr wrap="square" lIns="0" rIns="0" tIns="0" bIns="0" anchor="t">
            <a:spAutoFit/>
          </a:bodyPr>
          <a:lstStyle/>
          <a:p>
            <a:pPr algn="l">
              <a:spcAft>
                <a:spcPts val="0"/>
              </a:spcAft>
            </a:pPr>
            <a:r>
              <a:rPr sz="1250" b="1" i="0">
                <a:solidFill>
                  <a:srgbClr val="38E0D8"/>
                </a:solidFill>
                <a:latin typeface="Arial"/>
              </a:rPr>
              <a:t>Pipeline</a:t>
            </a:r>
          </a:p>
        </p:txBody>
      </p:sp>
      <p:sp>
        <p:nvSpPr>
          <p:cNvPr id="41" name="Rounded Rectangle 40"/>
          <p:cNvSpPr/>
          <p:nvPr/>
        </p:nvSpPr>
        <p:spPr>
          <a:xfrm>
            <a:off x="932688" y="4974336"/>
            <a:ext cx="1416253" cy="566928"/>
          </a:xfrm>
          <a:prstGeom prst="roundRect">
            <a:avLst>
              <a:gd name="adj" fmla="val 5500"/>
            </a:avLst>
          </a:prstGeom>
          <a:solidFill>
            <a:srgbClr val="111B31"/>
          </a:solidFill>
          <a:ln w="12700">
            <a:solidFill>
              <a:srgbClr val="2A3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8408" y="5138928"/>
            <a:ext cx="1324813" cy="274320"/>
          </a:xfrm>
          <a:prstGeom prst="rect">
            <a:avLst/>
          </a:prstGeom>
          <a:noFill/>
        </p:spPr>
        <p:txBody>
          <a:bodyPr wrap="square" lIns="0" rIns="0" tIns="0" bIns="0" anchor="t">
            <a:spAutoFit/>
          </a:bodyPr>
          <a:lstStyle/>
          <a:p>
            <a:pPr algn="ctr">
              <a:spcAft>
                <a:spcPts val="0"/>
              </a:spcAft>
            </a:pPr>
            <a:r>
              <a:rPr sz="1000" b="0" i="0">
                <a:solidFill>
                  <a:srgbClr val="E8EEFB"/>
                </a:solidFill>
                <a:latin typeface="Calibri"/>
              </a:rPr>
              <a:t>ledger CSV</a:t>
            </a:r>
          </a:p>
        </p:txBody>
      </p:sp>
      <p:sp>
        <p:nvSpPr>
          <p:cNvPr id="43" name="TextBox 42"/>
          <p:cNvSpPr txBox="1"/>
          <p:nvPr/>
        </p:nvSpPr>
        <p:spPr>
          <a:xfrm>
            <a:off x="2348941" y="5138928"/>
            <a:ext cx="365760" cy="274320"/>
          </a:xfrm>
          <a:prstGeom prst="rect">
            <a:avLst/>
          </a:prstGeom>
          <a:noFill/>
        </p:spPr>
        <p:txBody>
          <a:bodyPr wrap="square" lIns="0" rIns="0" tIns="0" bIns="0" anchor="t">
            <a:spAutoFit/>
          </a:bodyPr>
          <a:lstStyle/>
          <a:p>
            <a:pPr algn="ctr">
              <a:spcAft>
                <a:spcPts val="0"/>
              </a:spcAft>
            </a:pPr>
            <a:r>
              <a:rPr sz="1200" b="0" i="0">
                <a:solidFill>
                  <a:srgbClr val="6A7FA6"/>
                </a:solidFill>
                <a:latin typeface="Calibri"/>
              </a:rPr>
              <a:t>&gt;</a:t>
            </a:r>
          </a:p>
        </p:txBody>
      </p:sp>
      <p:sp>
        <p:nvSpPr>
          <p:cNvPr id="44" name="Rounded Rectangle 43"/>
          <p:cNvSpPr/>
          <p:nvPr/>
        </p:nvSpPr>
        <p:spPr>
          <a:xfrm>
            <a:off x="2714701" y="4974336"/>
            <a:ext cx="1416253" cy="566928"/>
          </a:xfrm>
          <a:prstGeom prst="roundRect">
            <a:avLst>
              <a:gd name="adj" fmla="val 5500"/>
            </a:avLst>
          </a:prstGeom>
          <a:solidFill>
            <a:srgbClr val="111B31"/>
          </a:solidFill>
          <a:ln w="12700">
            <a:solidFill>
              <a:srgbClr val="2A3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60421" y="5138928"/>
            <a:ext cx="1324813" cy="274320"/>
          </a:xfrm>
          <a:prstGeom prst="rect">
            <a:avLst/>
          </a:prstGeom>
          <a:noFill/>
        </p:spPr>
        <p:txBody>
          <a:bodyPr wrap="square" lIns="0" rIns="0" tIns="0" bIns="0" anchor="t">
            <a:spAutoFit/>
          </a:bodyPr>
          <a:lstStyle/>
          <a:p>
            <a:pPr algn="ctr">
              <a:spcAft>
                <a:spcPts val="0"/>
              </a:spcAft>
            </a:pPr>
            <a:r>
              <a:rPr sz="1000" b="0" i="0">
                <a:solidFill>
                  <a:srgbClr val="E8EEFB"/>
                </a:solidFill>
                <a:latin typeface="Calibri"/>
              </a:rPr>
              <a:t>adapter</a:t>
            </a:r>
          </a:p>
        </p:txBody>
      </p:sp>
      <p:sp>
        <p:nvSpPr>
          <p:cNvPr id="46" name="TextBox 45"/>
          <p:cNvSpPr txBox="1"/>
          <p:nvPr/>
        </p:nvSpPr>
        <p:spPr>
          <a:xfrm>
            <a:off x="4130954" y="5138928"/>
            <a:ext cx="365760" cy="274320"/>
          </a:xfrm>
          <a:prstGeom prst="rect">
            <a:avLst/>
          </a:prstGeom>
          <a:noFill/>
        </p:spPr>
        <p:txBody>
          <a:bodyPr wrap="square" lIns="0" rIns="0" tIns="0" bIns="0" anchor="t">
            <a:spAutoFit/>
          </a:bodyPr>
          <a:lstStyle/>
          <a:p>
            <a:pPr algn="ctr">
              <a:spcAft>
                <a:spcPts val="0"/>
              </a:spcAft>
            </a:pPr>
            <a:r>
              <a:rPr sz="1200" b="0" i="0">
                <a:solidFill>
                  <a:srgbClr val="6A7FA6"/>
                </a:solidFill>
                <a:latin typeface="Calibri"/>
              </a:rPr>
              <a:t>&gt;</a:t>
            </a:r>
          </a:p>
        </p:txBody>
      </p:sp>
      <p:sp>
        <p:nvSpPr>
          <p:cNvPr id="47" name="Rounded Rectangle 46"/>
          <p:cNvSpPr/>
          <p:nvPr/>
        </p:nvSpPr>
        <p:spPr>
          <a:xfrm>
            <a:off x="4496714" y="4974336"/>
            <a:ext cx="1416253" cy="566928"/>
          </a:xfrm>
          <a:prstGeom prst="roundRect">
            <a:avLst>
              <a:gd name="adj" fmla="val 5500"/>
            </a:avLst>
          </a:prstGeom>
          <a:solidFill>
            <a:srgbClr val="111B31"/>
          </a:solidFill>
          <a:ln w="12700">
            <a:solidFill>
              <a:srgbClr val="2A3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42434" y="5138928"/>
            <a:ext cx="1324813" cy="274320"/>
          </a:xfrm>
          <a:prstGeom prst="rect">
            <a:avLst/>
          </a:prstGeom>
          <a:noFill/>
        </p:spPr>
        <p:txBody>
          <a:bodyPr wrap="square" lIns="0" rIns="0" tIns="0" bIns="0" anchor="t">
            <a:spAutoFit/>
          </a:bodyPr>
          <a:lstStyle/>
          <a:p>
            <a:pPr algn="ctr">
              <a:spcAft>
                <a:spcPts val="0"/>
              </a:spcAft>
            </a:pPr>
            <a:r>
              <a:rPr sz="1000" b="0" i="0">
                <a:solidFill>
                  <a:srgbClr val="E8EEFB"/>
                </a:solidFill>
                <a:latin typeface="Calibri"/>
              </a:rPr>
              <a:t>graph</a:t>
            </a:r>
          </a:p>
        </p:txBody>
      </p:sp>
      <p:sp>
        <p:nvSpPr>
          <p:cNvPr id="49" name="TextBox 48"/>
          <p:cNvSpPr txBox="1"/>
          <p:nvPr/>
        </p:nvSpPr>
        <p:spPr>
          <a:xfrm>
            <a:off x="5912967" y="5138928"/>
            <a:ext cx="365760" cy="274320"/>
          </a:xfrm>
          <a:prstGeom prst="rect">
            <a:avLst/>
          </a:prstGeom>
          <a:noFill/>
        </p:spPr>
        <p:txBody>
          <a:bodyPr wrap="square" lIns="0" rIns="0" tIns="0" bIns="0" anchor="t">
            <a:spAutoFit/>
          </a:bodyPr>
          <a:lstStyle/>
          <a:p>
            <a:pPr algn="ctr">
              <a:spcAft>
                <a:spcPts val="0"/>
              </a:spcAft>
            </a:pPr>
            <a:r>
              <a:rPr sz="1200" b="0" i="0">
                <a:solidFill>
                  <a:srgbClr val="6A7FA6"/>
                </a:solidFill>
                <a:latin typeface="Calibri"/>
              </a:rPr>
              <a:t>&gt;</a:t>
            </a:r>
          </a:p>
        </p:txBody>
      </p:sp>
      <p:sp>
        <p:nvSpPr>
          <p:cNvPr id="50" name="Rounded Rectangle 49"/>
          <p:cNvSpPr/>
          <p:nvPr/>
        </p:nvSpPr>
        <p:spPr>
          <a:xfrm>
            <a:off x="6278727" y="4974336"/>
            <a:ext cx="1416253" cy="566928"/>
          </a:xfrm>
          <a:prstGeom prst="roundRect">
            <a:avLst>
              <a:gd name="adj" fmla="val 5500"/>
            </a:avLst>
          </a:prstGeom>
          <a:solidFill>
            <a:srgbClr val="111B31"/>
          </a:solidFill>
          <a:ln w="12700">
            <a:solidFill>
              <a:srgbClr val="2A3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24447" y="5138928"/>
            <a:ext cx="1324813" cy="274320"/>
          </a:xfrm>
          <a:prstGeom prst="rect">
            <a:avLst/>
          </a:prstGeom>
          <a:noFill/>
        </p:spPr>
        <p:txBody>
          <a:bodyPr wrap="square" lIns="0" rIns="0" tIns="0" bIns="0" anchor="t">
            <a:spAutoFit/>
          </a:bodyPr>
          <a:lstStyle/>
          <a:p>
            <a:pPr algn="ctr">
              <a:spcAft>
                <a:spcPts val="0"/>
              </a:spcAft>
            </a:pPr>
            <a:r>
              <a:rPr sz="1000" b="0" i="0">
                <a:solidFill>
                  <a:srgbClr val="E8EEFB"/>
                </a:solidFill>
                <a:latin typeface="Calibri"/>
              </a:rPr>
              <a:t>layers 1 to 9</a:t>
            </a:r>
          </a:p>
        </p:txBody>
      </p:sp>
      <p:sp>
        <p:nvSpPr>
          <p:cNvPr id="52" name="TextBox 51"/>
          <p:cNvSpPr txBox="1"/>
          <p:nvPr/>
        </p:nvSpPr>
        <p:spPr>
          <a:xfrm>
            <a:off x="7694980" y="5138928"/>
            <a:ext cx="365760" cy="274320"/>
          </a:xfrm>
          <a:prstGeom prst="rect">
            <a:avLst/>
          </a:prstGeom>
          <a:noFill/>
        </p:spPr>
        <p:txBody>
          <a:bodyPr wrap="square" lIns="0" rIns="0" tIns="0" bIns="0" anchor="t">
            <a:spAutoFit/>
          </a:bodyPr>
          <a:lstStyle/>
          <a:p>
            <a:pPr algn="ctr">
              <a:spcAft>
                <a:spcPts val="0"/>
              </a:spcAft>
            </a:pPr>
            <a:r>
              <a:rPr sz="1200" b="0" i="0">
                <a:solidFill>
                  <a:srgbClr val="6A7FA6"/>
                </a:solidFill>
                <a:latin typeface="Calibri"/>
              </a:rPr>
              <a:t>&gt;</a:t>
            </a:r>
          </a:p>
        </p:txBody>
      </p:sp>
      <p:sp>
        <p:nvSpPr>
          <p:cNvPr id="53" name="Rounded Rectangle 52"/>
          <p:cNvSpPr/>
          <p:nvPr/>
        </p:nvSpPr>
        <p:spPr>
          <a:xfrm>
            <a:off x="8060740" y="4974336"/>
            <a:ext cx="1416253" cy="566928"/>
          </a:xfrm>
          <a:prstGeom prst="roundRect">
            <a:avLst>
              <a:gd name="adj" fmla="val 5500"/>
            </a:avLst>
          </a:prstGeom>
          <a:solidFill>
            <a:srgbClr val="111B31"/>
          </a:solidFill>
          <a:ln w="12700">
            <a:solidFill>
              <a:srgbClr val="2A3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106460" y="5138928"/>
            <a:ext cx="1324813" cy="274320"/>
          </a:xfrm>
          <a:prstGeom prst="rect">
            <a:avLst/>
          </a:prstGeom>
          <a:noFill/>
        </p:spPr>
        <p:txBody>
          <a:bodyPr wrap="square" lIns="0" rIns="0" tIns="0" bIns="0" anchor="t">
            <a:spAutoFit/>
          </a:bodyPr>
          <a:lstStyle/>
          <a:p>
            <a:pPr algn="ctr">
              <a:spcAft>
                <a:spcPts val="0"/>
              </a:spcAft>
            </a:pPr>
            <a:r>
              <a:rPr sz="1000" b="0" i="0">
                <a:solidFill>
                  <a:srgbClr val="E8EEFB"/>
                </a:solidFill>
                <a:latin typeface="Calibri"/>
              </a:rPr>
              <a:t>rings and timeline</a:t>
            </a:r>
          </a:p>
        </p:txBody>
      </p:sp>
      <p:sp>
        <p:nvSpPr>
          <p:cNvPr id="55" name="TextBox 54"/>
          <p:cNvSpPr txBox="1"/>
          <p:nvPr/>
        </p:nvSpPr>
        <p:spPr>
          <a:xfrm>
            <a:off x="9476994" y="5138928"/>
            <a:ext cx="365760" cy="274320"/>
          </a:xfrm>
          <a:prstGeom prst="rect">
            <a:avLst/>
          </a:prstGeom>
          <a:noFill/>
        </p:spPr>
        <p:txBody>
          <a:bodyPr wrap="square" lIns="0" rIns="0" tIns="0" bIns="0" anchor="t">
            <a:spAutoFit/>
          </a:bodyPr>
          <a:lstStyle/>
          <a:p>
            <a:pPr algn="ctr">
              <a:spcAft>
                <a:spcPts val="0"/>
              </a:spcAft>
            </a:pPr>
            <a:r>
              <a:rPr sz="1200" b="0" i="0">
                <a:solidFill>
                  <a:srgbClr val="6A7FA6"/>
                </a:solidFill>
                <a:latin typeface="Calibri"/>
              </a:rPr>
              <a:t>&gt;</a:t>
            </a:r>
          </a:p>
        </p:txBody>
      </p:sp>
      <p:sp>
        <p:nvSpPr>
          <p:cNvPr id="56" name="Rounded Rectangle 55"/>
          <p:cNvSpPr/>
          <p:nvPr/>
        </p:nvSpPr>
        <p:spPr>
          <a:xfrm>
            <a:off x="9842754" y="4974336"/>
            <a:ext cx="1416253" cy="566928"/>
          </a:xfrm>
          <a:prstGeom prst="roundRect">
            <a:avLst>
              <a:gd name="adj" fmla="val 5500"/>
            </a:avLst>
          </a:prstGeom>
          <a:solidFill>
            <a:srgbClr val="111B31"/>
          </a:solidFill>
          <a:ln w="12700">
            <a:solidFill>
              <a:srgbClr val="2A3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88474" y="5138928"/>
            <a:ext cx="1324813" cy="274320"/>
          </a:xfrm>
          <a:prstGeom prst="rect">
            <a:avLst/>
          </a:prstGeom>
          <a:noFill/>
        </p:spPr>
        <p:txBody>
          <a:bodyPr wrap="square" lIns="0" rIns="0" tIns="0" bIns="0" anchor="t">
            <a:spAutoFit/>
          </a:bodyPr>
          <a:lstStyle/>
          <a:p>
            <a:pPr algn="ctr">
              <a:spcAft>
                <a:spcPts val="0"/>
              </a:spcAft>
            </a:pPr>
            <a:r>
              <a:rPr sz="1000" b="0" i="0">
                <a:solidFill>
                  <a:srgbClr val="E8EEFB"/>
                </a:solidFill>
                <a:latin typeface="Calibri"/>
              </a:rPr>
              <a:t>console or report</a:t>
            </a:r>
          </a:p>
        </p:txBody>
      </p:sp>
      <p:sp>
        <p:nvSpPr>
          <p:cNvPr id="58" name="TextBox 57"/>
          <p:cNvSpPr txBox="1"/>
          <p:nvPr/>
        </p:nvSpPr>
        <p:spPr>
          <a:xfrm>
            <a:off x="566928" y="6016752"/>
            <a:ext cx="11057839" cy="502920"/>
          </a:xfrm>
          <a:prstGeom prst="rect">
            <a:avLst/>
          </a:prstGeom>
          <a:noFill/>
        </p:spPr>
        <p:txBody>
          <a:bodyPr wrap="square" lIns="0" rIns="0" tIns="0" bIns="0" anchor="t">
            <a:spAutoFit/>
          </a:bodyPr>
          <a:lstStyle/>
          <a:p>
            <a:pPr algn="l">
              <a:lnSpc>
                <a:spcPct val="115000"/>
              </a:lnSpc>
              <a:spcAft>
                <a:spcPts val="0"/>
              </a:spcAft>
            </a:pPr>
            <a:r>
              <a:rPr sz="1200" b="0" i="0">
                <a:solidFill>
                  <a:srgbClr val="93A6C8"/>
                </a:solidFill>
                <a:latin typeface="Calibri"/>
              </a:rPr>
              <a:t>The engine is a pure function of (transactions, Config). The browser can therefore re-run the whole pipeline when a threshold slider moves, and the headless report reproduces the same output with no server running.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C18"/>
        </a:solidFill>
        <a:effectLst/>
      </p:bgPr>
    </p:bg>
    <p:spTree>
      <p:nvGrpSpPr>
        <p:cNvPr id="1" name=""/>
        <p:cNvGrpSpPr/>
        <p:nvPr/>
      </p:nvGrpSpPr>
      <p:grpSpPr/>
      <p:sp>
        <p:nvSpPr>
          <p:cNvPr id="2" name="Oval 1"/>
          <p:cNvSpPr/>
          <p:nvPr/>
        </p:nvSpPr>
        <p:spPr>
          <a:xfrm>
            <a:off x="11240719" y="548640"/>
            <a:ext cx="384048" cy="384048"/>
          </a:xfrm>
          <a:prstGeom prst="ellipse">
            <a:avLst/>
          </a:prstGeom>
          <a:solidFill>
            <a:srgbClr val="16223C"/>
          </a:solidFill>
          <a:ln w="15875">
            <a:solidFill>
              <a:srgbClr val="38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0719" y="617219"/>
            <a:ext cx="384048" cy="274320"/>
          </a:xfrm>
          <a:prstGeom prst="rect">
            <a:avLst/>
          </a:prstGeom>
          <a:noFill/>
        </p:spPr>
        <p:txBody>
          <a:bodyPr wrap="square" lIns="0" rIns="0" tIns="0" bIns="0" anchor="t">
            <a:spAutoFit/>
          </a:bodyPr>
          <a:lstStyle/>
          <a:p>
            <a:pPr algn="ctr">
              <a:spcAft>
                <a:spcPts val="600"/>
              </a:spcAft>
            </a:pPr>
            <a:r>
              <a:rPr sz="1250" b="1" i="0">
                <a:solidFill>
                  <a:srgbClr val="38E0D8"/>
                </a:solidFill>
                <a:latin typeface="Arial"/>
              </a:rPr>
              <a:t>4</a:t>
            </a:r>
          </a:p>
        </p:txBody>
      </p:sp>
      <p:sp>
        <p:nvSpPr>
          <p:cNvPr id="4" name="TextBox 3"/>
          <p:cNvSpPr txBox="1"/>
          <p:nvPr/>
        </p:nvSpPr>
        <p:spPr>
          <a:xfrm>
            <a:off x="566928" y="502920"/>
            <a:ext cx="10417759" cy="566928"/>
          </a:xfrm>
          <a:prstGeom prst="rect">
            <a:avLst/>
          </a:prstGeom>
          <a:noFill/>
        </p:spPr>
        <p:txBody>
          <a:bodyPr wrap="square" lIns="0" rIns="0" tIns="0" bIns="0" anchor="t">
            <a:spAutoFit/>
          </a:bodyPr>
          <a:lstStyle/>
          <a:p>
            <a:pPr algn="l">
              <a:spcAft>
                <a:spcPts val="600"/>
              </a:spcAft>
            </a:pPr>
            <a:r>
              <a:rPr sz="3200" b="1" i="0">
                <a:solidFill>
                  <a:srgbClr val="E8EEFB"/>
                </a:solidFill>
                <a:latin typeface="Arial"/>
              </a:rPr>
              <a:t>Challenges</a:t>
            </a:r>
          </a:p>
        </p:txBody>
      </p:sp>
      <p:sp>
        <p:nvSpPr>
          <p:cNvPr id="5" name="TextBox 4"/>
          <p:cNvSpPr txBox="1"/>
          <p:nvPr/>
        </p:nvSpPr>
        <p:spPr>
          <a:xfrm>
            <a:off x="566928" y="1078992"/>
            <a:ext cx="10417759" cy="384048"/>
          </a:xfrm>
          <a:prstGeom prst="rect">
            <a:avLst/>
          </a:prstGeom>
          <a:noFill/>
        </p:spPr>
        <p:txBody>
          <a:bodyPr wrap="square" lIns="0" rIns="0" tIns="0" bIns="0" anchor="t">
            <a:spAutoFit/>
          </a:bodyPr>
          <a:lstStyle/>
          <a:p>
            <a:pPr algn="l">
              <a:spcAft>
                <a:spcPts val="0"/>
              </a:spcAft>
            </a:pPr>
            <a:r>
              <a:rPr sz="1450" b="0" i="0">
                <a:solidFill>
                  <a:srgbClr val="93A6C8"/>
                </a:solidFill>
                <a:latin typeface="Calibri"/>
              </a:rPr>
              <a:t>The four that shaped the design, and how each was handled</a:t>
            </a:r>
          </a:p>
        </p:txBody>
      </p:sp>
      <p:sp>
        <p:nvSpPr>
          <p:cNvPr id="6" name="Rounded Rectangle 5"/>
          <p:cNvSpPr/>
          <p:nvPr/>
        </p:nvSpPr>
        <p:spPr>
          <a:xfrm>
            <a:off x="566928" y="1664208"/>
            <a:ext cx="5391759" cy="2011680"/>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77824" y="1993392"/>
            <a:ext cx="201168" cy="201168"/>
          </a:xfrm>
          <a:prstGeom prst="ellipse">
            <a:avLst/>
          </a:prstGeom>
          <a:solidFill>
            <a:srgbClr val="FF4D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5" y="1920240"/>
            <a:ext cx="4422495" cy="585216"/>
          </a:xfrm>
          <a:prstGeom prst="rect">
            <a:avLst/>
          </a:prstGeom>
          <a:noFill/>
        </p:spPr>
        <p:txBody>
          <a:bodyPr wrap="square" lIns="0" rIns="0" tIns="0" bIns="0" anchor="t">
            <a:spAutoFit/>
          </a:bodyPr>
          <a:lstStyle/>
          <a:p>
            <a:pPr algn="l">
              <a:lnSpc>
                <a:spcPct val="108000"/>
              </a:lnSpc>
              <a:spcAft>
                <a:spcPts val="0"/>
              </a:spcAft>
            </a:pPr>
            <a:r>
              <a:rPr sz="1300" b="1" i="0">
                <a:solidFill>
                  <a:srgbClr val="E8EEFB"/>
                </a:solidFill>
                <a:latin typeface="Arial"/>
              </a:rPr>
              <a:t>Real Indian account-level data is not available.</a:t>
            </a:r>
          </a:p>
        </p:txBody>
      </p:sp>
      <p:sp>
        <p:nvSpPr>
          <p:cNvPr id="9" name="TextBox 8"/>
          <p:cNvSpPr txBox="1"/>
          <p:nvPr/>
        </p:nvSpPr>
        <p:spPr>
          <a:xfrm>
            <a:off x="877824" y="2532888"/>
            <a:ext cx="4769967" cy="1024128"/>
          </a:xfrm>
          <a:prstGeom prst="rect">
            <a:avLst/>
          </a:prstGeom>
          <a:noFill/>
        </p:spPr>
        <p:txBody>
          <a:bodyPr wrap="square" lIns="0" rIns="0" tIns="0" bIns="0" anchor="t">
            <a:spAutoFit/>
          </a:bodyPr>
          <a:lstStyle/>
          <a:p>
            <a:pPr algn="l">
              <a:lnSpc>
                <a:spcPct val="115000"/>
              </a:lnSpc>
              <a:spcAft>
                <a:spcPts val="0"/>
              </a:spcAft>
            </a:pPr>
            <a:r>
              <a:rPr sz="1050" b="0" i="0">
                <a:solidFill>
                  <a:srgbClr val="93A6C8"/>
                </a:solidFill>
                <a:latin typeface="Calibri"/>
              </a:rPr>
              <a:t>Customer ledgers are protected by the PMLA, by RBI regulation and by the DPDP Act 2023, which is why every public AML dataset is synthetic. The generated ledger pins its rails, ticket sizes, channel shares and reporting thresholds to published RBI, NPCI and FIU-IND figures, cited parameter by parameter and exportable as provenance JSON.</a:t>
            </a:r>
          </a:p>
        </p:txBody>
      </p:sp>
      <p:sp>
        <p:nvSpPr>
          <p:cNvPr id="10" name="Rounded Rectangle 9"/>
          <p:cNvSpPr/>
          <p:nvPr/>
        </p:nvSpPr>
        <p:spPr>
          <a:xfrm>
            <a:off x="6233007" y="1664208"/>
            <a:ext cx="5391759" cy="2011680"/>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43903" y="1993392"/>
            <a:ext cx="201168" cy="201168"/>
          </a:xfrm>
          <a:prstGeom prst="ellipse">
            <a:avLst/>
          </a:prstGeom>
          <a:solidFill>
            <a:srgbClr val="FF9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91375" y="1920240"/>
            <a:ext cx="4422495" cy="585216"/>
          </a:xfrm>
          <a:prstGeom prst="rect">
            <a:avLst/>
          </a:prstGeom>
          <a:noFill/>
        </p:spPr>
        <p:txBody>
          <a:bodyPr wrap="square" lIns="0" rIns="0" tIns="0" bIns="0" anchor="t">
            <a:spAutoFit/>
          </a:bodyPr>
          <a:lstStyle/>
          <a:p>
            <a:pPr algn="l">
              <a:lnSpc>
                <a:spcPct val="108000"/>
              </a:lnSpc>
              <a:spcAft>
                <a:spcPts val="0"/>
              </a:spcAft>
            </a:pPr>
            <a:r>
              <a:rPr sz="1300" b="1" i="0">
                <a:solidFill>
                  <a:srgbClr val="E8EEFB"/>
                </a:solidFill>
                <a:latin typeface="Arial"/>
              </a:rPr>
              <a:t>Scoring well on self-generated data proves little.</a:t>
            </a:r>
          </a:p>
        </p:txBody>
      </p:sp>
      <p:sp>
        <p:nvSpPr>
          <p:cNvPr id="13" name="TextBox 12"/>
          <p:cNvSpPr txBox="1"/>
          <p:nvPr/>
        </p:nvSpPr>
        <p:spPr>
          <a:xfrm>
            <a:off x="6543903" y="2532888"/>
            <a:ext cx="4769967" cy="1024128"/>
          </a:xfrm>
          <a:prstGeom prst="rect">
            <a:avLst/>
          </a:prstGeom>
          <a:noFill/>
        </p:spPr>
        <p:txBody>
          <a:bodyPr wrap="square" lIns="0" rIns="0" tIns="0" bIns="0" anchor="t">
            <a:spAutoFit/>
          </a:bodyPr>
          <a:lstStyle/>
          <a:p>
            <a:pPr algn="l">
              <a:lnSpc>
                <a:spcPct val="115000"/>
              </a:lnSpc>
              <a:spcAft>
                <a:spcPts val="0"/>
              </a:spcAft>
            </a:pPr>
            <a:r>
              <a:rPr sz="1050" b="0" i="0">
                <a:solidFill>
                  <a:srgbClr val="93A6C8"/>
                </a:solidFill>
                <a:latin typeface="Calibri"/>
              </a:rPr>
              <a:t>The ledger therefore carries 19 accounts of lawful business engineered to reproduce each typology's topology: settlement loops, escrow pass-throughs, payroll fan-outs. None is labelled fraud and none is flagged. Results are reported across 10 seeds with a layer-by-layer ablation.</a:t>
            </a:r>
          </a:p>
        </p:txBody>
      </p:sp>
      <p:sp>
        <p:nvSpPr>
          <p:cNvPr id="14" name="Rounded Rectangle 13"/>
          <p:cNvSpPr/>
          <p:nvPr/>
        </p:nvSpPr>
        <p:spPr>
          <a:xfrm>
            <a:off x="566928" y="3840480"/>
            <a:ext cx="5391759" cy="2011680"/>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77824" y="4169664"/>
            <a:ext cx="201168" cy="20116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25295" y="4096512"/>
            <a:ext cx="4422495" cy="585216"/>
          </a:xfrm>
          <a:prstGeom prst="rect">
            <a:avLst/>
          </a:prstGeom>
          <a:noFill/>
        </p:spPr>
        <p:txBody>
          <a:bodyPr wrap="square" lIns="0" rIns="0" tIns="0" bIns="0" anchor="t">
            <a:spAutoFit/>
          </a:bodyPr>
          <a:lstStyle/>
          <a:p>
            <a:pPr algn="l">
              <a:lnSpc>
                <a:spcPct val="108000"/>
              </a:lnSpc>
              <a:spcAft>
                <a:spcPts val="0"/>
              </a:spcAft>
            </a:pPr>
            <a:r>
              <a:rPr sz="1300" b="1" i="0">
                <a:solidFill>
                  <a:srgbClr val="E8EEFB"/>
                </a:solidFill>
                <a:latin typeface="Arial"/>
              </a:rPr>
              <a:t>A detector built from published thresholds can be evaded.</a:t>
            </a:r>
          </a:p>
        </p:txBody>
      </p:sp>
      <p:sp>
        <p:nvSpPr>
          <p:cNvPr id="17" name="TextBox 16"/>
          <p:cNvSpPr txBox="1"/>
          <p:nvPr/>
        </p:nvSpPr>
        <p:spPr>
          <a:xfrm>
            <a:off x="877824" y="4709160"/>
            <a:ext cx="4769967" cy="1024128"/>
          </a:xfrm>
          <a:prstGeom prst="rect">
            <a:avLst/>
          </a:prstGeom>
          <a:noFill/>
        </p:spPr>
        <p:txBody>
          <a:bodyPr wrap="square" lIns="0" rIns="0" tIns="0" bIns="0" anchor="t">
            <a:spAutoFit/>
          </a:bodyPr>
          <a:lstStyle/>
          <a:p>
            <a:pPr algn="l">
              <a:lnSpc>
                <a:spcPct val="115000"/>
              </a:lnSpc>
              <a:spcAft>
                <a:spcPts val="0"/>
              </a:spcAft>
            </a:pPr>
            <a:r>
              <a:rPr sz="1050" b="0" i="0">
                <a:solidFill>
                  <a:srgbClr val="93A6C8"/>
                </a:solidFill>
                <a:latin typeface="Calibri"/>
              </a:rPr>
              <a:t>redteam.py constructs the ledger someone who had read the project's own Detection Lab page would run. Layers 1 to 8 score recall 0.00 on it. Layer 9 scores properties that survive the manoeuvre and recovers recall 1.00 with no false positives, including on a peeling chain, a typology no layer here implements.</a:t>
            </a:r>
          </a:p>
        </p:txBody>
      </p:sp>
      <p:sp>
        <p:nvSpPr>
          <p:cNvPr id="18" name="Rounded Rectangle 17"/>
          <p:cNvSpPr/>
          <p:nvPr/>
        </p:nvSpPr>
        <p:spPr>
          <a:xfrm>
            <a:off x="6233007" y="3840480"/>
            <a:ext cx="5391759" cy="2011680"/>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43903" y="4169664"/>
            <a:ext cx="201168" cy="201168"/>
          </a:xfrm>
          <a:prstGeom prst="ellipse">
            <a:avLst/>
          </a:prstGeom>
          <a:solidFill>
            <a:srgbClr val="4D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91375" y="4096512"/>
            <a:ext cx="4422495" cy="585216"/>
          </a:xfrm>
          <a:prstGeom prst="rect">
            <a:avLst/>
          </a:prstGeom>
          <a:noFill/>
        </p:spPr>
        <p:txBody>
          <a:bodyPr wrap="square" lIns="0" rIns="0" tIns="0" bIns="0" anchor="t">
            <a:spAutoFit/>
          </a:bodyPr>
          <a:lstStyle/>
          <a:p>
            <a:pPr algn="l">
              <a:lnSpc>
                <a:spcPct val="108000"/>
              </a:lnSpc>
              <a:spcAft>
                <a:spcPts val="0"/>
              </a:spcAft>
            </a:pPr>
            <a:r>
              <a:rPr sz="1300" b="1" i="0">
                <a:solidFill>
                  <a:srgbClr val="E8EEFB"/>
                </a:solidFill>
                <a:latin typeface="Arial"/>
              </a:rPr>
              <a:t>Recall and review workload trade off directly.</a:t>
            </a:r>
          </a:p>
        </p:txBody>
      </p:sp>
      <p:sp>
        <p:nvSpPr>
          <p:cNvPr id="21" name="TextBox 20"/>
          <p:cNvSpPr txBox="1"/>
          <p:nvPr/>
        </p:nvSpPr>
        <p:spPr>
          <a:xfrm>
            <a:off x="6543903" y="4709160"/>
            <a:ext cx="4769967" cy="1024128"/>
          </a:xfrm>
          <a:prstGeom prst="rect">
            <a:avLst/>
          </a:prstGeom>
          <a:noFill/>
        </p:spPr>
        <p:txBody>
          <a:bodyPr wrap="square" lIns="0" rIns="0" tIns="0" bIns="0" anchor="t">
            <a:spAutoFit/>
          </a:bodyPr>
          <a:lstStyle/>
          <a:p>
            <a:pPr algn="l">
              <a:lnSpc>
                <a:spcPct val="115000"/>
              </a:lnSpc>
              <a:spcAft>
                <a:spcPts val="0"/>
              </a:spcAft>
            </a:pPr>
            <a:r>
              <a:rPr sz="1050" b="0" i="0">
                <a:solidFill>
                  <a:srgbClr val="93A6C8"/>
                </a:solidFill>
                <a:latin typeface="Calibri"/>
              </a:rPr>
              <a:t>Alerts are tiered so the longest reviews go to the highest scores: 1.17 alerts a day and about 60 analyst hours across the 30-day window. A recall against workload frontier is computed so the effect of loosening a parameter is visible before it is changed.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C18"/>
        </a:solidFill>
        <a:effectLst/>
      </p:bgPr>
    </p:bg>
    <p:spTree>
      <p:nvGrpSpPr>
        <p:cNvPr id="1" name=""/>
        <p:cNvGrpSpPr/>
        <p:nvPr/>
      </p:nvGrpSpPr>
      <p:grpSpPr/>
      <p:sp>
        <p:nvSpPr>
          <p:cNvPr id="2" name="Oval 1"/>
          <p:cNvSpPr/>
          <p:nvPr/>
        </p:nvSpPr>
        <p:spPr>
          <a:xfrm>
            <a:off x="11240719" y="548640"/>
            <a:ext cx="384048" cy="384048"/>
          </a:xfrm>
          <a:prstGeom prst="ellipse">
            <a:avLst/>
          </a:prstGeom>
          <a:solidFill>
            <a:srgbClr val="16223C"/>
          </a:solidFill>
          <a:ln w="15875">
            <a:solidFill>
              <a:srgbClr val="38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0719" y="617219"/>
            <a:ext cx="384048" cy="274320"/>
          </a:xfrm>
          <a:prstGeom prst="rect">
            <a:avLst/>
          </a:prstGeom>
          <a:noFill/>
        </p:spPr>
        <p:txBody>
          <a:bodyPr wrap="square" lIns="0" rIns="0" tIns="0" bIns="0" anchor="t">
            <a:spAutoFit/>
          </a:bodyPr>
          <a:lstStyle/>
          <a:p>
            <a:pPr algn="ctr">
              <a:spcAft>
                <a:spcPts val="600"/>
              </a:spcAft>
            </a:pPr>
            <a:r>
              <a:rPr sz="1250" b="1" i="0">
                <a:solidFill>
                  <a:srgbClr val="38E0D8"/>
                </a:solidFill>
                <a:latin typeface="Arial"/>
              </a:rPr>
              <a:t>5</a:t>
            </a:r>
          </a:p>
        </p:txBody>
      </p:sp>
      <p:sp>
        <p:nvSpPr>
          <p:cNvPr id="4" name="TextBox 3"/>
          <p:cNvSpPr txBox="1"/>
          <p:nvPr/>
        </p:nvSpPr>
        <p:spPr>
          <a:xfrm>
            <a:off x="566928" y="502920"/>
            <a:ext cx="10417759" cy="566928"/>
          </a:xfrm>
          <a:prstGeom prst="rect">
            <a:avLst/>
          </a:prstGeom>
          <a:noFill/>
        </p:spPr>
        <p:txBody>
          <a:bodyPr wrap="square" lIns="0" rIns="0" tIns="0" bIns="0" anchor="t">
            <a:spAutoFit/>
          </a:bodyPr>
          <a:lstStyle/>
          <a:p>
            <a:pPr algn="l">
              <a:spcAft>
                <a:spcPts val="600"/>
              </a:spcAft>
            </a:pPr>
            <a:r>
              <a:rPr sz="3200" b="1" i="0">
                <a:solidFill>
                  <a:srgbClr val="E8EEFB"/>
                </a:solidFill>
                <a:latin typeface="Arial"/>
              </a:rPr>
              <a:t>Future scope</a:t>
            </a:r>
          </a:p>
        </p:txBody>
      </p:sp>
      <p:sp>
        <p:nvSpPr>
          <p:cNvPr id="5" name="TextBox 4"/>
          <p:cNvSpPr txBox="1"/>
          <p:nvPr/>
        </p:nvSpPr>
        <p:spPr>
          <a:xfrm>
            <a:off x="566928" y="1078992"/>
            <a:ext cx="10417759" cy="384048"/>
          </a:xfrm>
          <a:prstGeom prst="rect">
            <a:avLst/>
          </a:prstGeom>
          <a:noFill/>
        </p:spPr>
        <p:txBody>
          <a:bodyPr wrap="square" lIns="0" rIns="0" tIns="0" bIns="0" anchor="t">
            <a:spAutoFit/>
          </a:bodyPr>
          <a:lstStyle/>
          <a:p>
            <a:pPr algn="l">
              <a:spcAft>
                <a:spcPts val="0"/>
              </a:spcAft>
            </a:pPr>
            <a:r>
              <a:rPr sz="1450" b="0" i="0">
                <a:solidFill>
                  <a:srgbClr val="93A6C8"/>
                </a:solidFill>
                <a:latin typeface="Calibri"/>
              </a:rPr>
              <a:t>Work identified but not built into the prototype</a:t>
            </a:r>
          </a:p>
        </p:txBody>
      </p:sp>
      <p:sp>
        <p:nvSpPr>
          <p:cNvPr id="6" name="Oval 5"/>
          <p:cNvSpPr/>
          <p:nvPr/>
        </p:nvSpPr>
        <p:spPr>
          <a:xfrm>
            <a:off x="566928" y="1787651"/>
            <a:ext cx="182880" cy="182880"/>
          </a:xfrm>
          <a:prstGeom prst="ellipse">
            <a:avLst/>
          </a:prstGeom>
          <a:solidFill>
            <a:srgbClr val="38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6163055" cy="804671"/>
          </a:xfrm>
          <a:prstGeom prst="rect">
            <a:avLst/>
          </a:prstGeom>
          <a:noFill/>
        </p:spPr>
        <p:txBody>
          <a:bodyPr wrap="square" lIns="0" rIns="0" tIns="0" bIns="0" anchor="t">
            <a:spAutoFit/>
          </a:bodyPr>
          <a:lstStyle/>
          <a:p>
            <a:pPr algn="l">
              <a:spcAft>
                <a:spcPts val="0"/>
              </a:spcAft>
            </a:pPr>
            <a:r>
              <a:rPr sz="1300" b="1" i="0">
                <a:solidFill>
                  <a:srgbClr val="E8EEFB"/>
                </a:solidFill>
                <a:latin typeface="Arial"/>
              </a:rPr>
              <a:t>Incremental scoring on a live stream.  </a:t>
            </a:r>
            <a:r>
              <a:rPr sz="1150" b="0" i="0">
                <a:solidFill>
                  <a:srgbClr val="93A6C8"/>
                </a:solidFill>
                <a:latin typeface="Calibri"/>
              </a:rPr>
              <a:t>Day-by-day replay places the first alert on day 3 and reaches a stable queue by day 22. Scoring incrementally as payments arrive would let a ring be escalated while it is still active rather than after the observation window closes.</a:t>
            </a:r>
          </a:p>
        </p:txBody>
      </p:sp>
      <p:sp>
        <p:nvSpPr>
          <p:cNvPr id="8" name="Oval 7"/>
          <p:cNvSpPr/>
          <p:nvPr/>
        </p:nvSpPr>
        <p:spPr>
          <a:xfrm>
            <a:off x="566928" y="2647188"/>
            <a:ext cx="182880" cy="182880"/>
          </a:xfrm>
          <a:prstGeom prst="ellipse">
            <a:avLst/>
          </a:prstGeom>
          <a:solidFill>
            <a:srgbClr val="4D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596896"/>
            <a:ext cx="6163055" cy="804671"/>
          </a:xfrm>
          <a:prstGeom prst="rect">
            <a:avLst/>
          </a:prstGeom>
          <a:noFill/>
        </p:spPr>
        <p:txBody>
          <a:bodyPr wrap="square" lIns="0" rIns="0" tIns="0" bIns="0" anchor="t">
            <a:spAutoFit/>
          </a:bodyPr>
          <a:lstStyle/>
          <a:p>
            <a:pPr algn="l">
              <a:spcAft>
                <a:spcPts val="0"/>
              </a:spcAft>
            </a:pPr>
            <a:r>
              <a:rPr sz="1300" b="1" i="0">
                <a:solidFill>
                  <a:srgbClr val="E8EEFB"/>
                </a:solidFill>
                <a:latin typeface="Arial"/>
              </a:rPr>
              <a:t>Detection across institutions.  </a:t>
            </a:r>
            <a:r>
              <a:rPr sz="1150" b="0" i="0">
                <a:solidFill>
                  <a:srgbClr val="93A6C8"/>
                </a:solidFill>
                <a:latin typeface="Calibri"/>
              </a:rPr>
              <a:t>A ring split across four banks is invisible to each of them individually. Federated or privacy-preserving exchange of graph structure would let the shape be shared without any bank exposing customer records.</a:t>
            </a:r>
          </a:p>
        </p:txBody>
      </p:sp>
      <p:sp>
        <p:nvSpPr>
          <p:cNvPr id="10" name="Oval 9"/>
          <p:cNvSpPr/>
          <p:nvPr/>
        </p:nvSpPr>
        <p:spPr>
          <a:xfrm>
            <a:off x="566928" y="3506724"/>
            <a:ext cx="182880" cy="18288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456432"/>
            <a:ext cx="6163055" cy="804671"/>
          </a:xfrm>
          <a:prstGeom prst="rect">
            <a:avLst/>
          </a:prstGeom>
          <a:noFill/>
        </p:spPr>
        <p:txBody>
          <a:bodyPr wrap="square" lIns="0" rIns="0" tIns="0" bIns="0" anchor="t">
            <a:spAutoFit/>
          </a:bodyPr>
          <a:lstStyle/>
          <a:p>
            <a:pPr algn="l">
              <a:spcAft>
                <a:spcPts val="0"/>
              </a:spcAft>
            </a:pPr>
            <a:r>
              <a:rPr sz="1300" b="1" i="0">
                <a:solidFill>
                  <a:srgbClr val="E8EEFB"/>
                </a:solidFill>
                <a:latin typeface="Arial"/>
              </a:rPr>
              <a:t>An analyst feedback loop.  </a:t>
            </a:r>
            <a:r>
              <a:rPr sz="1150" b="0" i="0">
                <a:solidFill>
                  <a:srgbClr val="93A6C8"/>
                </a:solidFill>
                <a:latin typeface="Calibri"/>
              </a:rPr>
              <a:t>Each disposition an analyst records is a label. Feeding confirmed and cleared cases back would allow the corroborating layers to be calibrated on a bank's own book instead of on a synthetic ledger.</a:t>
            </a:r>
          </a:p>
        </p:txBody>
      </p:sp>
      <p:sp>
        <p:nvSpPr>
          <p:cNvPr id="12" name="Oval 11"/>
          <p:cNvSpPr/>
          <p:nvPr/>
        </p:nvSpPr>
        <p:spPr>
          <a:xfrm>
            <a:off x="566928" y="4366259"/>
            <a:ext cx="182880" cy="182880"/>
          </a:xfrm>
          <a:prstGeom prst="ellipse">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315968"/>
            <a:ext cx="6163055" cy="804671"/>
          </a:xfrm>
          <a:prstGeom prst="rect">
            <a:avLst/>
          </a:prstGeom>
          <a:noFill/>
        </p:spPr>
        <p:txBody>
          <a:bodyPr wrap="square" lIns="0" rIns="0" tIns="0" bIns="0" anchor="t">
            <a:spAutoFit/>
          </a:bodyPr>
          <a:lstStyle/>
          <a:p>
            <a:pPr algn="l">
              <a:spcAft>
                <a:spcPts val="0"/>
              </a:spcAft>
            </a:pPr>
            <a:r>
              <a:rPr sz="1300" b="1" i="0">
                <a:solidFill>
                  <a:srgbClr val="E8EEFB"/>
                </a:solidFill>
                <a:latin typeface="Arial"/>
              </a:rPr>
              <a:t>Filing and case management integration.  </a:t>
            </a:r>
            <a:r>
              <a:rPr sz="1150" b="0" i="0">
                <a:solidFill>
                  <a:srgbClr val="93A6C8"/>
                </a:solidFill>
                <a:latin typeface="Calibri"/>
              </a:rPr>
              <a:t>The STR draft is complete in content. Emitting it in the FIU-IND FINnet exchange format, and pushing cases into an existing case management system, would remove the remaining manual step.</a:t>
            </a:r>
          </a:p>
        </p:txBody>
      </p:sp>
      <p:sp>
        <p:nvSpPr>
          <p:cNvPr id="14" name="Oval 13"/>
          <p:cNvSpPr/>
          <p:nvPr/>
        </p:nvSpPr>
        <p:spPr>
          <a:xfrm>
            <a:off x="566928" y="5225796"/>
            <a:ext cx="182880" cy="182880"/>
          </a:xfrm>
          <a:prstGeom prst="ellipse">
            <a:avLst/>
          </a:prstGeom>
          <a:solidFill>
            <a:srgbClr val="FF9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175504"/>
            <a:ext cx="6163055" cy="804671"/>
          </a:xfrm>
          <a:prstGeom prst="rect">
            <a:avLst/>
          </a:prstGeom>
          <a:noFill/>
        </p:spPr>
        <p:txBody>
          <a:bodyPr wrap="square" lIns="0" rIns="0" tIns="0" bIns="0" anchor="t">
            <a:spAutoFit/>
          </a:bodyPr>
          <a:lstStyle/>
          <a:p>
            <a:pPr algn="l">
              <a:spcAft>
                <a:spcPts val="0"/>
              </a:spcAft>
            </a:pPr>
            <a:r>
              <a:rPr sz="1300" b="1" i="0">
                <a:solidFill>
                  <a:srgbClr val="E8EEFB"/>
                </a:solidFill>
                <a:latin typeface="Arial"/>
              </a:rPr>
              <a:t>Other jurisdictions.  </a:t>
            </a:r>
            <a:r>
              <a:rPr sz="1150" b="0" i="0">
                <a:solidFill>
                  <a:srgbClr val="93A6C8"/>
                </a:solidFill>
                <a:latin typeface="Calibri"/>
              </a:rPr>
              <a:t>Because the reporting threshold is inferred rather than compiled in, supporting another regime is a calibration file rather than a change to the detectors.</a:t>
            </a:r>
          </a:p>
        </p:txBody>
      </p:sp>
      <p:sp>
        <p:nvSpPr>
          <p:cNvPr id="16" name="Rounded Rectangle 15"/>
          <p:cNvSpPr/>
          <p:nvPr/>
        </p:nvSpPr>
        <p:spPr>
          <a:xfrm>
            <a:off x="7360920" y="1737360"/>
            <a:ext cx="4263847" cy="3986784"/>
          </a:xfrm>
          <a:prstGeom prst="roundRect">
            <a:avLst>
              <a:gd name="adj" fmla="val 5500"/>
            </a:avLst>
          </a:prstGeom>
          <a:solidFill>
            <a:srgbClr val="111B31"/>
          </a:solidFill>
          <a:ln w="12700">
            <a:solidFill>
              <a:srgbClr val="1E2B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90104" y="1975104"/>
            <a:ext cx="3605479" cy="329184"/>
          </a:xfrm>
          <a:prstGeom prst="rect">
            <a:avLst/>
          </a:prstGeom>
          <a:noFill/>
        </p:spPr>
        <p:txBody>
          <a:bodyPr wrap="square" lIns="0" rIns="0" tIns="0" bIns="0" anchor="t">
            <a:spAutoFit/>
          </a:bodyPr>
          <a:lstStyle/>
          <a:p>
            <a:pPr algn="l">
              <a:spcAft>
                <a:spcPts val="0"/>
              </a:spcAft>
            </a:pPr>
            <a:r>
              <a:rPr sz="1250" b="1" i="0">
                <a:solidFill>
                  <a:srgbClr val="38E0D8"/>
                </a:solidFill>
                <a:latin typeface="Arial"/>
              </a:rPr>
              <a:t>Current state</a:t>
            </a:r>
          </a:p>
        </p:txBody>
      </p:sp>
      <p:sp>
        <p:nvSpPr>
          <p:cNvPr id="18" name="TextBox 17"/>
          <p:cNvSpPr txBox="1"/>
          <p:nvPr/>
        </p:nvSpPr>
        <p:spPr>
          <a:xfrm>
            <a:off x="7690104" y="2487168"/>
            <a:ext cx="2331720" cy="420624"/>
          </a:xfrm>
          <a:prstGeom prst="rect">
            <a:avLst/>
          </a:prstGeom>
          <a:noFill/>
        </p:spPr>
        <p:txBody>
          <a:bodyPr wrap="square" lIns="0" rIns="0" tIns="0" bIns="0" anchor="t">
            <a:spAutoFit/>
          </a:bodyPr>
          <a:lstStyle/>
          <a:p>
            <a:pPr algn="l">
              <a:lnSpc>
                <a:spcPct val="105000"/>
              </a:lnSpc>
              <a:spcAft>
                <a:spcPts val="0"/>
              </a:spcAft>
            </a:pPr>
            <a:r>
              <a:rPr sz="1100" b="0" i="0">
                <a:solidFill>
                  <a:srgbClr val="93A6C8"/>
                </a:solidFill>
                <a:latin typeface="Calibri"/>
              </a:rPr>
              <a:t>Detection layers implemented</a:t>
            </a:r>
          </a:p>
        </p:txBody>
      </p:sp>
      <p:sp>
        <p:nvSpPr>
          <p:cNvPr id="19" name="TextBox 18"/>
          <p:cNvSpPr txBox="1"/>
          <p:nvPr/>
        </p:nvSpPr>
        <p:spPr>
          <a:xfrm>
            <a:off x="10058400" y="2487168"/>
            <a:ext cx="1237183" cy="420624"/>
          </a:xfrm>
          <a:prstGeom prst="rect">
            <a:avLst/>
          </a:prstGeom>
          <a:noFill/>
        </p:spPr>
        <p:txBody>
          <a:bodyPr wrap="square" lIns="0" rIns="0" tIns="0" bIns="0" anchor="t">
            <a:spAutoFit/>
          </a:bodyPr>
          <a:lstStyle/>
          <a:p>
            <a:pPr algn="r">
              <a:spcAft>
                <a:spcPts val="0"/>
              </a:spcAft>
            </a:pPr>
            <a:r>
              <a:rPr sz="1150" b="1" i="0">
                <a:solidFill>
                  <a:srgbClr val="E8EEFB"/>
                </a:solidFill>
                <a:latin typeface="Arial"/>
              </a:rPr>
              <a:t>9</a:t>
            </a:r>
          </a:p>
        </p:txBody>
      </p:sp>
      <p:sp>
        <p:nvSpPr>
          <p:cNvPr id="20" name="TextBox 19"/>
          <p:cNvSpPr txBox="1"/>
          <p:nvPr/>
        </p:nvSpPr>
        <p:spPr>
          <a:xfrm>
            <a:off x="7690104" y="3035808"/>
            <a:ext cx="2331720" cy="420624"/>
          </a:xfrm>
          <a:prstGeom prst="rect">
            <a:avLst/>
          </a:prstGeom>
          <a:noFill/>
        </p:spPr>
        <p:txBody>
          <a:bodyPr wrap="square" lIns="0" rIns="0" tIns="0" bIns="0" anchor="t">
            <a:spAutoFit/>
          </a:bodyPr>
          <a:lstStyle/>
          <a:p>
            <a:pPr algn="l">
              <a:lnSpc>
                <a:spcPct val="105000"/>
              </a:lnSpc>
              <a:spcAft>
                <a:spcPts val="0"/>
              </a:spcAft>
            </a:pPr>
            <a:r>
              <a:rPr sz="1100" b="0" i="0">
                <a:solidFill>
                  <a:srgbClr val="93A6C8"/>
                </a:solidFill>
                <a:latin typeface="Calibri"/>
              </a:rPr>
              <a:t>Mean detection latency</a:t>
            </a:r>
          </a:p>
        </p:txBody>
      </p:sp>
      <p:sp>
        <p:nvSpPr>
          <p:cNvPr id="21" name="TextBox 20"/>
          <p:cNvSpPr txBox="1"/>
          <p:nvPr/>
        </p:nvSpPr>
        <p:spPr>
          <a:xfrm>
            <a:off x="10058400" y="3035808"/>
            <a:ext cx="1237183" cy="420624"/>
          </a:xfrm>
          <a:prstGeom prst="rect">
            <a:avLst/>
          </a:prstGeom>
          <a:noFill/>
        </p:spPr>
        <p:txBody>
          <a:bodyPr wrap="square" lIns="0" rIns="0" tIns="0" bIns="0" anchor="t">
            <a:spAutoFit/>
          </a:bodyPr>
          <a:lstStyle/>
          <a:p>
            <a:pPr algn="r">
              <a:spcAft>
                <a:spcPts val="0"/>
              </a:spcAft>
            </a:pPr>
            <a:r>
              <a:rPr sz="1150" b="1" i="0">
                <a:solidFill>
                  <a:srgbClr val="E8EEFB"/>
                </a:solidFill>
                <a:latin typeface="Arial"/>
              </a:rPr>
              <a:t>4.2 days</a:t>
            </a:r>
          </a:p>
        </p:txBody>
      </p:sp>
      <p:sp>
        <p:nvSpPr>
          <p:cNvPr id="22" name="TextBox 21"/>
          <p:cNvSpPr txBox="1"/>
          <p:nvPr/>
        </p:nvSpPr>
        <p:spPr>
          <a:xfrm>
            <a:off x="7690104" y="3584448"/>
            <a:ext cx="2331720" cy="420624"/>
          </a:xfrm>
          <a:prstGeom prst="rect">
            <a:avLst/>
          </a:prstGeom>
          <a:noFill/>
        </p:spPr>
        <p:txBody>
          <a:bodyPr wrap="square" lIns="0" rIns="0" tIns="0" bIns="0" anchor="t">
            <a:spAutoFit/>
          </a:bodyPr>
          <a:lstStyle/>
          <a:p>
            <a:pPr algn="l">
              <a:lnSpc>
                <a:spcPct val="105000"/>
              </a:lnSpc>
              <a:spcAft>
                <a:spcPts val="0"/>
              </a:spcAft>
            </a:pPr>
            <a:r>
              <a:rPr sz="1100" b="0" i="0">
                <a:solidFill>
                  <a:srgbClr val="93A6C8"/>
                </a:solidFill>
                <a:latin typeface="Calibri"/>
              </a:rPr>
              <a:t>False positives on the ledger</a:t>
            </a:r>
          </a:p>
        </p:txBody>
      </p:sp>
      <p:sp>
        <p:nvSpPr>
          <p:cNvPr id="23" name="TextBox 22"/>
          <p:cNvSpPr txBox="1"/>
          <p:nvPr/>
        </p:nvSpPr>
        <p:spPr>
          <a:xfrm>
            <a:off x="10058400" y="3584448"/>
            <a:ext cx="1237183" cy="420624"/>
          </a:xfrm>
          <a:prstGeom prst="rect">
            <a:avLst/>
          </a:prstGeom>
          <a:noFill/>
        </p:spPr>
        <p:txBody>
          <a:bodyPr wrap="square" lIns="0" rIns="0" tIns="0" bIns="0" anchor="t">
            <a:spAutoFit/>
          </a:bodyPr>
          <a:lstStyle/>
          <a:p>
            <a:pPr algn="r">
              <a:spcAft>
                <a:spcPts val="0"/>
              </a:spcAft>
            </a:pPr>
            <a:r>
              <a:rPr sz="1150" b="1" i="0">
                <a:solidFill>
                  <a:srgbClr val="E8EEFB"/>
                </a:solidFill>
                <a:latin typeface="Arial"/>
              </a:rPr>
              <a:t>0</a:t>
            </a:r>
          </a:p>
        </p:txBody>
      </p:sp>
      <p:sp>
        <p:nvSpPr>
          <p:cNvPr id="24" name="TextBox 23"/>
          <p:cNvSpPr txBox="1"/>
          <p:nvPr/>
        </p:nvSpPr>
        <p:spPr>
          <a:xfrm>
            <a:off x="7690104" y="4133088"/>
            <a:ext cx="2331720" cy="420624"/>
          </a:xfrm>
          <a:prstGeom prst="rect">
            <a:avLst/>
          </a:prstGeom>
          <a:noFill/>
        </p:spPr>
        <p:txBody>
          <a:bodyPr wrap="square" lIns="0" rIns="0" tIns="0" bIns="0" anchor="t">
            <a:spAutoFit/>
          </a:bodyPr>
          <a:lstStyle/>
          <a:p>
            <a:pPr algn="l">
              <a:lnSpc>
                <a:spcPct val="105000"/>
              </a:lnSpc>
              <a:spcAft>
                <a:spcPts val="0"/>
              </a:spcAft>
            </a:pPr>
            <a:r>
              <a:rPr sz="1100" b="0" i="0">
                <a:solidFill>
                  <a:srgbClr val="93A6C8"/>
                </a:solidFill>
                <a:latin typeface="Calibri"/>
              </a:rPr>
              <a:t>Stability under perturbation</a:t>
            </a:r>
          </a:p>
        </p:txBody>
      </p:sp>
      <p:sp>
        <p:nvSpPr>
          <p:cNvPr id="25" name="TextBox 24"/>
          <p:cNvSpPr txBox="1"/>
          <p:nvPr/>
        </p:nvSpPr>
        <p:spPr>
          <a:xfrm>
            <a:off x="10058400" y="4133088"/>
            <a:ext cx="1237183" cy="420624"/>
          </a:xfrm>
          <a:prstGeom prst="rect">
            <a:avLst/>
          </a:prstGeom>
          <a:noFill/>
        </p:spPr>
        <p:txBody>
          <a:bodyPr wrap="square" lIns="0" rIns="0" tIns="0" bIns="0" anchor="t">
            <a:spAutoFit/>
          </a:bodyPr>
          <a:lstStyle/>
          <a:p>
            <a:pPr algn="r">
              <a:spcAft>
                <a:spcPts val="0"/>
              </a:spcAft>
            </a:pPr>
            <a:r>
              <a:rPr sz="1150" b="1" i="0">
                <a:solidFill>
                  <a:srgbClr val="E8EEFB"/>
                </a:solidFill>
                <a:latin typeface="Arial"/>
              </a:rPr>
              <a:t>0.97 Jaccard</a:t>
            </a:r>
          </a:p>
        </p:txBody>
      </p:sp>
      <p:sp>
        <p:nvSpPr>
          <p:cNvPr id="26" name="TextBox 25"/>
          <p:cNvSpPr txBox="1"/>
          <p:nvPr/>
        </p:nvSpPr>
        <p:spPr>
          <a:xfrm>
            <a:off x="7690104" y="4681728"/>
            <a:ext cx="2331720" cy="420624"/>
          </a:xfrm>
          <a:prstGeom prst="rect">
            <a:avLst/>
          </a:prstGeom>
          <a:noFill/>
        </p:spPr>
        <p:txBody>
          <a:bodyPr wrap="square" lIns="0" rIns="0" tIns="0" bIns="0" anchor="t">
            <a:spAutoFit/>
          </a:bodyPr>
          <a:lstStyle/>
          <a:p>
            <a:pPr algn="l">
              <a:lnSpc>
                <a:spcPct val="105000"/>
              </a:lnSpc>
              <a:spcAft>
                <a:spcPts val="0"/>
              </a:spcAft>
            </a:pPr>
            <a:r>
              <a:rPr sz="1100" b="0" i="0">
                <a:solidFill>
                  <a:srgbClr val="93A6C8"/>
                </a:solidFill>
                <a:latin typeface="Calibri"/>
              </a:rPr>
              <a:t>Alerts per day</a:t>
            </a:r>
          </a:p>
        </p:txBody>
      </p:sp>
      <p:sp>
        <p:nvSpPr>
          <p:cNvPr id="27" name="TextBox 26"/>
          <p:cNvSpPr txBox="1"/>
          <p:nvPr/>
        </p:nvSpPr>
        <p:spPr>
          <a:xfrm>
            <a:off x="10058400" y="4681728"/>
            <a:ext cx="1237183" cy="420624"/>
          </a:xfrm>
          <a:prstGeom prst="rect">
            <a:avLst/>
          </a:prstGeom>
          <a:noFill/>
        </p:spPr>
        <p:txBody>
          <a:bodyPr wrap="square" lIns="0" rIns="0" tIns="0" bIns="0" anchor="t">
            <a:spAutoFit/>
          </a:bodyPr>
          <a:lstStyle/>
          <a:p>
            <a:pPr algn="r">
              <a:spcAft>
                <a:spcPts val="0"/>
              </a:spcAft>
            </a:pPr>
            <a:r>
              <a:rPr sz="1150" b="1" i="0">
                <a:solidFill>
                  <a:srgbClr val="E8EEFB"/>
                </a:solidFill>
                <a:latin typeface="Arial"/>
              </a:rPr>
              <a:t>1.2</a:t>
            </a:r>
          </a:p>
        </p:txBody>
      </p:sp>
      <p:sp>
        <p:nvSpPr>
          <p:cNvPr id="28" name="TextBox 27"/>
          <p:cNvSpPr txBox="1"/>
          <p:nvPr/>
        </p:nvSpPr>
        <p:spPr>
          <a:xfrm>
            <a:off x="7690104" y="5230368"/>
            <a:ext cx="2331720" cy="420624"/>
          </a:xfrm>
          <a:prstGeom prst="rect">
            <a:avLst/>
          </a:prstGeom>
          <a:noFill/>
        </p:spPr>
        <p:txBody>
          <a:bodyPr wrap="square" lIns="0" rIns="0" tIns="0" bIns="0" anchor="t">
            <a:spAutoFit/>
          </a:bodyPr>
          <a:lstStyle/>
          <a:p>
            <a:pPr algn="l">
              <a:lnSpc>
                <a:spcPct val="105000"/>
              </a:lnSpc>
              <a:spcAft>
                <a:spcPts val="0"/>
              </a:spcAft>
            </a:pPr>
            <a:r>
              <a:rPr sz="1100" b="0" i="0">
                <a:solidFill>
                  <a:srgbClr val="93A6C8"/>
                </a:solidFill>
                <a:latin typeface="Calibri"/>
              </a:rPr>
              <a:t>External dependencies in the UI</a:t>
            </a:r>
          </a:p>
        </p:txBody>
      </p:sp>
      <p:sp>
        <p:nvSpPr>
          <p:cNvPr id="29" name="TextBox 28"/>
          <p:cNvSpPr txBox="1"/>
          <p:nvPr/>
        </p:nvSpPr>
        <p:spPr>
          <a:xfrm>
            <a:off x="10058400" y="5230368"/>
            <a:ext cx="1237183" cy="420624"/>
          </a:xfrm>
          <a:prstGeom prst="rect">
            <a:avLst/>
          </a:prstGeom>
          <a:noFill/>
        </p:spPr>
        <p:txBody>
          <a:bodyPr wrap="square" lIns="0" rIns="0" tIns="0" bIns="0" anchor="t">
            <a:spAutoFit/>
          </a:bodyPr>
          <a:lstStyle/>
          <a:p>
            <a:pPr algn="r">
              <a:spcAft>
                <a:spcPts val="0"/>
              </a:spcAft>
            </a:pPr>
            <a:r>
              <a:rPr sz="1150" b="1" i="0">
                <a:solidFill>
                  <a:srgbClr val="E8EEFB"/>
                </a:solidFill>
                <a:latin typeface="Arial"/>
              </a:rPr>
              <a:t>none</a:t>
            </a:r>
          </a:p>
        </p:txBody>
      </p:sp>
      <p:sp>
        <p:nvSpPr>
          <p:cNvPr id="30" name="TextBox 29"/>
          <p:cNvSpPr txBox="1"/>
          <p:nvPr/>
        </p:nvSpPr>
        <p:spPr>
          <a:xfrm>
            <a:off x="566928" y="6035040"/>
            <a:ext cx="11057839" cy="457200"/>
          </a:xfrm>
          <a:prstGeom prst="rect">
            <a:avLst/>
          </a:prstGeom>
          <a:noFill/>
        </p:spPr>
        <p:txBody>
          <a:bodyPr wrap="square" lIns="0" rIns="0" tIns="0" bIns="0" anchor="t">
            <a:spAutoFit/>
          </a:bodyPr>
          <a:lstStyle/>
          <a:p>
            <a:pPr algn="l">
              <a:spcAft>
                <a:spcPts val="0"/>
              </a:spcAft>
            </a:pPr>
            <a:r>
              <a:rPr sz="1200" b="0" i="0">
                <a:solidFill>
                  <a:srgbClr val="93A6C8"/>
                </a:solidFill>
                <a:latin typeface="Calibri"/>
              </a:rPr>
              <a:t>The prototype runs offline on a single machine. The items above concern scale and integration.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406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8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743200"/>
            <a:ext cx="9722815" cy="822960"/>
          </a:xfrm>
          <a:prstGeom prst="rect">
            <a:avLst/>
          </a:prstGeom>
          <a:noFill/>
        </p:spPr>
        <p:txBody>
          <a:bodyPr wrap="square" lIns="0" rIns="0" tIns="0" bIns="0" anchor="t">
            <a:spAutoFit/>
          </a:bodyPr>
          <a:lstStyle/>
          <a:p>
            <a:pPr algn="l">
              <a:spcAft>
                <a:spcPts val="200"/>
              </a:spcAft>
            </a:pPr>
            <a:r>
              <a:rPr sz="4400" b="1" i="0">
                <a:solidFill>
                  <a:srgbClr val="E8EEFB"/>
                </a:solidFill>
                <a:latin typeface="Arial"/>
              </a:rPr>
              <a:t>Thank you</a:t>
            </a:r>
          </a:p>
        </p:txBody>
      </p:sp>
      <p:sp>
        <p:nvSpPr>
          <p:cNvPr id="4" name="Rectangle 3"/>
          <p:cNvSpPr/>
          <p:nvPr/>
        </p:nvSpPr>
        <p:spPr>
          <a:xfrm>
            <a:off x="1234440" y="3547872"/>
            <a:ext cx="1463040" cy="32004"/>
          </a:xfrm>
          <a:prstGeom prst="rect">
            <a:avLst/>
          </a:prstGeom>
          <a:solidFill>
            <a:srgbClr val="38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3840480"/>
            <a:ext cx="9722815" cy="457200"/>
          </a:xfrm>
          <a:prstGeom prst="rect">
            <a:avLst/>
          </a:prstGeom>
          <a:noFill/>
        </p:spPr>
        <p:txBody>
          <a:bodyPr wrap="square" lIns="0" rIns="0" tIns="0" bIns="0" anchor="t">
            <a:spAutoFit/>
          </a:bodyPr>
          <a:lstStyle/>
          <a:p>
            <a:pPr algn="l">
              <a:spcAft>
                <a:spcPts val="0"/>
              </a:spcAft>
            </a:pPr>
            <a:r>
              <a:rPr sz="1300" b="0" i="0">
                <a:solidFill>
                  <a:srgbClr val="93A6C8"/>
                </a:solidFill>
                <a:latin typeface="Calibri"/>
              </a:rPr>
              <a:t>AMLTrace, problem statement 5, Tracing Financial Crime Across Patterns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