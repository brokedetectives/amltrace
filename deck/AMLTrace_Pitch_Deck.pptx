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AMLTrace. The one-line pitch: most AML demos prove they can find a pattern. We spent our time proving we can tell a laundering ring apart from a business that merely looks like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pain: banks are not short of alerts, they are short of correct ones. The third bullet is the one we attack - it is the reason published numbers look better than deployed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Show, do not tell: this is a running Flask app with zero front-end dependencies - no CDN, no build step. It works with the venue wifi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slow down on. We deliberately made our own numbers worse in order to measure the thing that actually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encode economics, not geometry - which is why they generalise beyond the specific decoys we planted.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last bar against the one above it. This is the case for graph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a worse number is the most credible thing in the deck. Any AML result quoted without this curve is quoting the easiest number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panel speaks to the banking judges. Nobody else in the room will have costed their own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ledger is a peeling chain, a typology with no layer of its own in this engine. It is here to answer whether layer 9 generalises or has just been fitted to the first attack. Nothing in it was used to tune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one-liner. Then offer the live demo: stage planes, then the hard-negative table, then move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netwo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40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888736"/>
            <a:ext cx="128016" cy="128016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5888736"/>
            <a:ext cx="128016" cy="128016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5888736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E0D8"/>
                </a:solidFill>
                <a:latin typeface="Arial"/>
              </a:rPr>
              <a:t>BUILTNBANK  ·  IGTDW, IIT DELHI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E8EEFB"/>
                </a:solidFill>
                <a:latin typeface="Arial"/>
              </a:rPr>
              <a:t>AMLTrace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93A6C8"/>
                </a:solidFill>
                <a:latin typeface="Arial"/>
              </a:rPr>
              <a:t>Tracing financial crime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4600" b="1" i="0">
                <a:solidFill>
                  <a:srgbClr val="93A6C8"/>
                </a:solidFill>
                <a:latin typeface="Arial"/>
              </a:rPr>
              <a:t>across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60520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93A6C8"/>
                </a:solidFill>
                <a:latin typeface="Calibri"/>
              </a:rPr>
              <a:t>An anti-money-laundering investigation console. Eight detection layers over a directed money-flow graph - and four economic tests that decide whether a suspicious shape is actually a crime.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583387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A7FA6"/>
                </a:solidFill>
                <a:latin typeface="Calibri"/>
              </a:rPr>
              <a:t>187 accounts   ·   301 transactions   ·   35 alerts   ·   9 rings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slow" p14:dur="6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Why AML systems drown their own analysts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20240"/>
            <a:ext cx="3118104" cy="53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4D6D"/>
                </a:solidFill>
                <a:latin typeface="Arial"/>
              </a:rPr>
              <a:t>90-95%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01987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of AML alerts at large banks are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22611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industry-reported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78308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118104" cy="53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9F43"/>
                </a:solidFill>
                <a:latin typeface="Arial"/>
              </a:rPr>
              <a:t>~6%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501987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of alerts convert into a filed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22611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the rest is salaried review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1783080"/>
            <a:ext cx="3520440" cy="1243584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920240"/>
            <a:ext cx="3118104" cy="40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8E0D8"/>
                </a:solidFill>
                <a:latin typeface="Arial"/>
              </a:rPr>
              <a:t>Shape ≠ crime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3" y="2375863"/>
            <a:ext cx="31181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the failure nobody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796487"/>
            <a:ext cx="3118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a legitimate business has the same topology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37560"/>
            <a:ext cx="11055096" cy="265176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118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8EEFB"/>
                </a:solidFill>
                <a:latin typeface="Arial"/>
              </a:rPr>
              <a:t>The structural problem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210812"/>
            <a:ext cx="182880" cy="18288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" y="4160520"/>
            <a:ext cx="10003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EFB"/>
                </a:solidFill>
                <a:latin typeface="Arial"/>
              </a:rPr>
              <a:t>Rules alone are blind to structure.  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A single transfer is unremarkable; the crime lives in who pays whom, in what shape, in what order.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814316"/>
            <a:ext cx="182880" cy="1828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4764024"/>
            <a:ext cx="10003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EFB"/>
                </a:solidFill>
                <a:latin typeface="Arial"/>
              </a:rPr>
              <a:t>Machine learning alone is unexplainable.  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An anomaly score is not a ground of suspicion you can put in front of a regulator.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5417820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5367528"/>
            <a:ext cx="100035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EFB"/>
                </a:solidFill>
                <a:latin typeface="Arial"/>
              </a:rPr>
              <a:t>Everyone benchmarks on data where only criminals form triangles.  </a:t>
            </a:r>
            <a:r>
              <a:rPr sz="1250" b="0" i="0">
                <a:solidFill>
                  <a:srgbClr val="93A6C8"/>
                </a:solidFill>
                <a:latin typeface="Calibri"/>
              </a:rPr>
              <a:t>So precision is measured against a problem nobody actually has.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AMLTrace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A working investigation console, not a notebook of metrics</a:t>
            </a:r>
          </a:p>
        </p:txBody>
      </p:sp>
      <p:pic>
        <p:nvPicPr>
          <p:cNvPr id="6" name="Picture 5" descr="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02610"/>
            <a:ext cx="5669280" cy="38586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6928" y="1924812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Alert queue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Every account triaged by risk, each with grounds of suspicion in plain English.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647188"/>
            <a:ext cx="182880" cy="18288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96896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Interactive network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3D money-flow graph; laundering stages as depth planes.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369564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19272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Laundering timeline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Placement → layering → integration, reconstructed per ring.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091939"/>
            <a:ext cx="182880" cy="18288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41648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Streaming replay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Detection re-run day by day, as the money actually moves.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814316"/>
            <a:ext cx="182880" cy="182880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764024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FIU-IND STR generator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Filing-ready reports under PMLA 2002, Section 12.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5536692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86400"/>
            <a:ext cx="4882896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8EEFB"/>
                </a:solidFill>
                <a:latin typeface="Arial"/>
              </a:rPr>
              <a:t>Detection lab  </a:t>
            </a:r>
            <a:r>
              <a:rPr sz="1300" b="0" i="0">
                <a:solidFill>
                  <a:srgbClr val="93A6C8"/>
                </a:solidFill>
                <a:latin typeface="Calibri"/>
              </a:rPr>
              <a:t>Every threshold live-tunable; the pipeline re-runs in seconds.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But every detector scores well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So we built a ledger designed to break it</a:t>
            </a:r>
          </a:p>
        </p:txBody>
      </p:sp>
      <p:pic>
        <p:nvPicPr>
          <p:cNvPr id="6" name="Picture 5" descr="chart_hardn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858000" cy="37576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90688" y="1783080"/>
            <a:ext cx="3840480" cy="42062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FF4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1583" y="202996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19 lawful businesses, engineered to have identical topology to each typology.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3035808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 i="0">
                <a:solidFill>
                  <a:srgbClr val="93A6C8"/>
                </a:solidFill>
                <a:latin typeface="Calibri"/>
              </a:rPr>
              <a:t>None of them is labelled fraud. Each family reproduces the shape of one crime.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400" b="1" i="0">
                <a:solidFill>
                  <a:srgbClr val="FF4D6D"/>
                </a:solidFill>
                <a:latin typeface="Calibri"/>
              </a:rPr>
              <a:t>A detector that matches shape alone flags 18 of the 19.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300" b="0" i="0">
                <a:solidFill>
                  <a:srgbClr val="93A6C8"/>
                </a:solidFill>
                <a:latin typeface="Calibri"/>
              </a:rPr>
              <a:t>That is the number no AML demo shows - and it is the difference between a pattern matcher and a product.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Four economic tests, not geometric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Turning each off, in isolation</a:t>
            </a:r>
          </a:p>
        </p:txBody>
      </p:sp>
      <p:pic>
        <p:nvPicPr>
          <p:cNvPr id="6" name="Picture 5" descr="chart_discri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949440" cy="2809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82127" y="178308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6A7FA6"/>
                </a:solidFill>
                <a:latin typeface="Arial"/>
              </a:rPr>
              <a:t>WHAT SEPARATES THEM</a:t>
            </a:r>
          </a:p>
        </p:txBody>
      </p:sp>
      <p:sp>
        <p:nvSpPr>
          <p:cNvPr id="8" name="Oval 7"/>
          <p:cNvSpPr/>
          <p:nvPr/>
        </p:nvSpPr>
        <p:spPr>
          <a:xfrm>
            <a:off x="7882127" y="2258568"/>
            <a:ext cx="201168" cy="201168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12848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Threshold avoidance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structurer never crosses the CTR line. A big biller sometimes does.</a:t>
            </a:r>
          </a:p>
        </p:txBody>
      </p:sp>
      <p:sp>
        <p:nvSpPr>
          <p:cNvPr id="10" name="Oval 9"/>
          <p:cNvSpPr/>
          <p:nvPr/>
        </p:nvSpPr>
        <p:spPr>
          <a:xfrm>
            <a:off x="7882127" y="3227832"/>
            <a:ext cx="201168" cy="201168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182112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Branch dedication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mule has no other trade. A contractor has other customers.</a:t>
            </a:r>
          </a:p>
        </p:txBody>
      </p:sp>
      <p:sp>
        <p:nvSpPr>
          <p:cNvPr id="12" name="Oval 11"/>
          <p:cNvSpPr/>
          <p:nvPr/>
        </p:nvSpPr>
        <p:spPr>
          <a:xfrm>
            <a:off x="7882127" y="4197096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51376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Standing relationship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Round-tripping through a monthly counterparty is trade.</a:t>
            </a:r>
          </a:p>
        </p:txBody>
      </p:sp>
      <p:sp>
        <p:nvSpPr>
          <p:cNvPr id="14" name="Oval 13"/>
          <p:cNvSpPr/>
          <p:nvPr/>
        </p:nvSpPr>
        <p:spPr>
          <a:xfrm>
            <a:off x="7882127" y="5166359"/>
            <a:ext cx="201168" cy="20116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5120640"/>
            <a:ext cx="3401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1" i="0">
                <a:solidFill>
                  <a:srgbClr val="E8EEFB"/>
                </a:solidFill>
                <a:latin typeface="Arial"/>
              </a:rPr>
              <a:t>Settlement-rail recurrence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A rail repeats on a schedule. A mule is used once and burned.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605332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CC8F"/>
                </a:solidFill>
                <a:latin typeface="Arial"/>
              </a:rPr>
              <a:t>All four on: 0/19 wrongly flagged.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Each layer earns its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Layers switched on cumulatively, against ground truth</a:t>
            </a:r>
          </a:p>
        </p:txBody>
      </p:sp>
      <p:pic>
        <p:nvPicPr>
          <p:cNvPr id="6" name="Picture 5" descr="char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7680960" cy="34428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828800"/>
            <a:ext cx="3108960" cy="13716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65960"/>
            <a:ext cx="270662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ECC8F"/>
                </a:solidFill>
                <a:latin typeface="Arial"/>
              </a:rPr>
              <a:t>1.00 /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84645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Precision / recall, full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3376" y="2905269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F1 1.00  ·  0 false positives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7" y="3346704"/>
            <a:ext cx="3108960" cy="13716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23376" y="3483864"/>
            <a:ext cx="270662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4D6D"/>
                </a:solidFill>
                <a:latin typeface="Arial"/>
              </a:rPr>
              <a:t>0.35 / 0.17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4002549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ML alone, no graph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376" y="4423173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the honest baseline for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4919472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Point-wise anomaly detection recovers a fraction of the network at half the precision. The signal in laundering is relational, not behavioural.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The number we could have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Same detector, run as a stream instead of a batch</a:t>
            </a:r>
          </a:p>
        </p:txBody>
      </p:sp>
      <p:pic>
        <p:nvPicPr>
          <p:cNvPr id="6" name="Picture 5" descr="chart_stre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7589520" cy="38468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22207" y="1783080"/>
            <a:ext cx="3108960" cy="11430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23376" y="1920240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ECC8F"/>
                </a:solidFill>
                <a:latin typeface="Arial"/>
              </a:rPr>
              <a:t>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3376" y="2470456"/>
            <a:ext cx="2706624" cy="327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Batch precision, month 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22207" y="3054096"/>
            <a:ext cx="3108960" cy="132588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3376" y="3191256"/>
            <a:ext cx="2706624" cy="504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4D6D"/>
                </a:solidFill>
                <a:latin typeface="Arial"/>
              </a:rPr>
              <a:t>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3376" y="3741472"/>
            <a:ext cx="27066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Streaming precision on 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4162096"/>
            <a:ext cx="2706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reaches the batch figure on day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45720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The discriminators are evidence-hungry. A settlement rail is indistinguishable from a mule until you have watched it settle three times - so lawful accounts are provisionally flagged, then correctly released.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Every threshold is a budget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Detection quality is not the decision a bank makes - staffing is</a:t>
            </a:r>
          </a:p>
        </p:txBody>
      </p:sp>
      <p:pic>
        <p:nvPicPr>
          <p:cNvPr id="6" name="Picture 5" descr="char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06640" cy="34082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39327" y="1783080"/>
            <a:ext cx="3291840" cy="12344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0496" y="1920240"/>
            <a:ext cx="288950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D7CFF"/>
                </a:solidFill>
                <a:latin typeface="Arial"/>
              </a:rPr>
              <a:t>0.41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0496" y="2438925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Analyst headcount at current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2859549"/>
            <a:ext cx="2889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Rs 8.76 L a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3145536"/>
            <a:ext cx="3291840" cy="123444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E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0496" y="3282696"/>
            <a:ext cx="2889504" cy="4729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9F43"/>
                </a:solidFill>
                <a:latin typeface="Arial"/>
              </a:rPr>
              <a:t>Rs 2,057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3801381"/>
            <a:ext cx="28895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3A6C8"/>
                </a:solidFill>
                <a:latin typeface="Calibri"/>
              </a:rPr>
              <a:t>Cost to review one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4222005"/>
            <a:ext cx="2889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A7FA6"/>
                </a:solidFill>
                <a:latin typeface="Calibri"/>
              </a:rPr>
              <a:t>Rs 7.40 L surfaced per analyst hour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4553712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Tightening the fan-branch rule from 3 to 4 cuts cost by a third - and throws away 40% of recall. There is no free precision, which is exactly why the threshold should be an explicit, costed decision rather than a hard-coded constant.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Detecting the evasion, not the typology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1041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93A6C8"/>
                </a:solidFill>
                <a:latin typeface="Calibri"/>
              </a:rPr>
              <a:t>Two ledgers built to defeat our own published thresholds</a:t>
            </a:r>
          </a:p>
        </p:txBody>
      </p:sp>
      <p:pic>
        <p:nvPicPr>
          <p:cNvPr id="6" name="Picture 5" descr="chart_eva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7223760" cy="39442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19288" y="1783080"/>
            <a:ext cx="3611880" cy="416052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8" y="2048256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E8EEFB"/>
                </a:solidFill>
                <a:latin typeface="Arial"/>
              </a:rPr>
              <a:t>A rule you can read is a rule you can stand next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8" y="2944368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Layer 9 scores three things a launderer cannot drop and still launder: hops arriving on a schedule, one sum keeping its size across a relay, and how much of an account is left once reciprocal cover traffic nets out.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0" i="0">
                <a:solidFill>
                  <a:srgbClr val="93A6C8"/>
                </a:solidFill>
                <a:latin typeface="Calibri"/>
              </a:rPr>
              <a:t>Nothing in it is a threshold to sit outside of, and it reads the reporting line off the ledger instead of compiling ours 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50" b="1" i="0">
                <a:solidFill>
                  <a:srgbClr val="38E0D8"/>
                </a:solidFill>
                <a:latin typeface="Calibri"/>
              </a:rPr>
              <a:t>14 of 14 accounts recovered, 0 false positives.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6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0719" y="548640"/>
            <a:ext cx="384048" cy="384048"/>
          </a:xfrm>
          <a:prstGeom prst="ellipse">
            <a:avLst/>
          </a:prstGeom>
          <a:solidFill>
            <a:srgbClr val="16223C"/>
          </a:solidFill>
          <a:ln w="15875">
            <a:solidFill>
              <a:srgbClr val="38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0719" y="61721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38E0D8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E8EEFB"/>
                </a:solidFill>
                <a:latin typeface="Arial"/>
              </a:rPr>
              <a:t>What we would say if you pushed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440680" cy="41148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2A1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011680"/>
            <a:ext cx="274320" cy="2743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20116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EFB"/>
                </a:solidFill>
                <a:latin typeface="Arial"/>
              </a:rPr>
              <a:t>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4203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Precision holds at 1.00 on all 10 random ledgers, so the number is a property of the method rather than of one lucky draw. The caveat that matters more: we wrote the generator and the detector, and they share a view of what laundering looks like.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02735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Rule thresholds are evadable by construction. A patient launderer costs us recall, not precision - the system goes quiet rather than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6634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The hard negatives are still ones we designed, and the ledger is synthetic. Adapters for four public datasets are built and tested; the data is separately licensed.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37360"/>
            <a:ext cx="5440680" cy="4114800"/>
          </a:xfrm>
          <a:prstGeom prst="roundRect">
            <a:avLst>
              <a:gd name="adj" fmla="val 5500"/>
            </a:avLst>
          </a:prstGeom>
          <a:solidFill>
            <a:srgbClr val="111B31"/>
          </a:solidFill>
          <a:ln w="12700">
            <a:solidFill>
              <a:srgbClr val="14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011680"/>
            <a:ext cx="274320" cy="274320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EFB"/>
                </a:solidFill>
                <a:latin typeface="Arial"/>
              </a:rPr>
              <a:t>What it proves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615184"/>
            <a:ext cx="146304" cy="146304"/>
          </a:xfrm>
          <a:prstGeom prst="ellipse">
            <a:avLst/>
          </a:prstGeom>
          <a:solidFill>
            <a:srgbClr val="4D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2542032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Relational structure carries the signal - ML alone scores 0.35 precision on the same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401568"/>
            <a:ext cx="146304" cy="146304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3328415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Shape matching alone flags 18 of 19 legitimate businesses. Discrimination is the product.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4187952"/>
            <a:ext cx="146304" cy="146304"/>
          </a:xfrm>
          <a:prstGeom prst="ellipse">
            <a:avLst/>
          </a:prstGeom>
          <a:solidFill>
            <a:srgbClr val="38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4114800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Streaming detection is strictly harder than batch, and we publish the curve that shows it.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974336"/>
            <a:ext cx="146304" cy="146304"/>
          </a:xfrm>
          <a:prstGeom prst="ellipse">
            <a:avLst/>
          </a:prstGeom>
          <a:solidFill>
            <a:srgbClr val="2EC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4901183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3A6C8"/>
                </a:solidFill>
                <a:latin typeface="Calibri"/>
              </a:rPr>
              <a:t>Thresholds are budget decisions, and we cost them in headcount and rupees.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98464"/>
            <a:ext cx="11055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8EEFB"/>
                </a:solidFill>
                <a:latin typeface="Arial"/>
              </a:rPr>
              <a:t>Most AML demos prove they can find a pattern.  We spent our time proving we can tell a laundering ring from a business that merely looks like one.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